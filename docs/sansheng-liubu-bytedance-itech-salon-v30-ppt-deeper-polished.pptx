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0ceef0567af4440" Type="http://schemas.openxmlformats.org/package/2006/relationships/metadata/core-properties" Target="docProps/core.xml"/><Relationship Id="R22b2e94579224bdb" Type="http://schemas.openxmlformats.org/officeDocument/2006/relationships/officeDocument" Target="ppt/presentation.xml"/><Relationship Id="R6e77dde516494e71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e9d41ced353c4b95"/>
  </p:sldMasterIdLst>
  <p:notesMasterIdLst>
    <p:notesMasterId r:id="Rda1dd74bbb994026"/>
  </p:notesMasterIdLst>
  <p:sldIdLst>
    <p:sldId id="256" r:id="R26765fc58c0c4cdc"/>
    <p:sldId id="257" r:id="R3a13dd0a94664d90"/>
    <p:sldId id="259" r:id="R584cde1b9ae44789"/>
    <p:sldId id="258" r:id="R3447efb8bcbf4684"/>
    <p:sldId id="260" r:id="Rea5ad25037094a74"/>
    <p:sldId id="261" r:id="Ra6a9db42d1b3451c"/>
    <p:sldId id="262" r:id="R228f83abdb87471e"/>
    <p:sldId id="263" r:id="R1b8d17876f7e4cbd"/>
    <p:sldId id="287" r:id="rId38"/>
    <p:sldId id="264" r:id="R8b04da45d5b549f7"/>
    <p:sldId id="265" r:id="R66fc9adea01f407e"/>
    <p:sldId id="284" r:id="rId35"/>
    <p:sldId id="267" r:id="R138e35e5bb43488a"/>
    <p:sldId id="285" r:id="rId36"/>
    <p:sldId id="266" r:id="Rd61cc3a513964675"/>
    <p:sldId id="268" r:id="R703a33201aec4163"/>
    <p:sldId id="288" r:id="rId39"/>
    <p:sldId id="272" r:id="Rff827354633a455d"/>
    <p:sldId id="269" r:id="Rc925d0cf4ab04a8c"/>
    <p:sldId id="270" r:id="Reea03e1f43654f7a"/>
    <p:sldId id="271" r:id="Rdab7d72e644c4b64"/>
    <p:sldId id="273" r:id="R93dc0c09cba44fe9"/>
    <p:sldId id="274" r:id="Rf340ba7c99f4422f"/>
    <p:sldId id="275" r:id="R2945932ccfdf4649"/>
    <p:sldId id="279" r:id="R3ec61683164f43fa"/>
    <p:sldId id="276" r:id="Rfc7d99e9909542d6"/>
    <p:sldId id="277" r:id="R1583f94aca004396"/>
    <p:sldId id="278" r:id="R00ea032d3f534a08"/>
    <p:sldId id="286" r:id="rId37"/>
    <p:sldId id="280" r:id="R31f97834e52b4ca7"/>
    <p:sldId id="281" r:id="Rc551c2e487d14e6f"/>
    <p:sldId id="282" r:id="Rdb4533e8e16c4870"/>
    <p:sldId id="289" r:id="rId40"/>
    <p:sldId id="290" r:id="rId41"/>
    <p:sldId id="283" r:id="Rade36ef93b84425d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0ea032d3f534a08" Type="http://schemas.openxmlformats.org/officeDocument/2006/relationships/slide" Target="slides/slide28.xml"/><Relationship Id="R138e35e5bb43488a" Type="http://schemas.openxmlformats.org/officeDocument/2006/relationships/slide" Target="slides/slide13.xml"/><Relationship Id="R149984f374944104" Type="http://schemas.openxmlformats.org/officeDocument/2006/relationships/theme" Target="theme/theme1.xml"/><Relationship Id="R1583f94aca004396" Type="http://schemas.openxmlformats.org/officeDocument/2006/relationships/slide" Target="slides/slide27.xml"/><Relationship Id="R1b8d17876f7e4cbd" Type="http://schemas.openxmlformats.org/officeDocument/2006/relationships/slide" Target="slides/slide8.xml"/><Relationship Id="R228f83abdb87471e" Type="http://schemas.openxmlformats.org/officeDocument/2006/relationships/slide" Target="slides/slide7.xml"/><Relationship Id="R26765fc58c0c4cdc" Type="http://schemas.openxmlformats.org/officeDocument/2006/relationships/slide" Target="slides/slide1.xml"/><Relationship Id="R2945932ccfdf4649" Type="http://schemas.openxmlformats.org/officeDocument/2006/relationships/slide" Target="slides/slide24.xml"/><Relationship Id="R31f97834e52b4ca7" Type="http://schemas.openxmlformats.org/officeDocument/2006/relationships/slide" Target="slides/slide30.xml"/><Relationship Id="R3447efb8bcbf4684" Type="http://schemas.openxmlformats.org/officeDocument/2006/relationships/slide" Target="slides/slide4.xml"/><Relationship Id="R3a13dd0a94664d90" Type="http://schemas.openxmlformats.org/officeDocument/2006/relationships/slide" Target="slides/slide2.xml"/><Relationship Id="R3ec61683164f43fa" Type="http://schemas.openxmlformats.org/officeDocument/2006/relationships/slide" Target="slides/slide25.xml"/><Relationship Id="R43b0585053ba4047" Type="http://schemas.openxmlformats.org/officeDocument/2006/relationships/tableStyles" Target="tableStyles.xml"/><Relationship Id="R584cde1b9ae44789" Type="http://schemas.openxmlformats.org/officeDocument/2006/relationships/slide" Target="slides/slide3.xml"/><Relationship Id="R66fc9adea01f407e" Type="http://schemas.openxmlformats.org/officeDocument/2006/relationships/slide" Target="slides/slide11.xml"/><Relationship Id="R703a33201aec4163" Type="http://schemas.openxmlformats.org/officeDocument/2006/relationships/slide" Target="slides/slide16.xml"/><Relationship Id="R8b04da45d5b549f7" Type="http://schemas.openxmlformats.org/officeDocument/2006/relationships/slide" Target="slides/slide10.xml"/><Relationship Id="R93dc0c09cba44fe9" Type="http://schemas.openxmlformats.org/officeDocument/2006/relationships/slide" Target="slides/slide22.xml"/><Relationship Id="Ra6a9db42d1b3451c" Type="http://schemas.openxmlformats.org/officeDocument/2006/relationships/slide" Target="slides/slide6.xml"/><Relationship Id="Rade36ef93b84425d" Type="http://schemas.openxmlformats.org/officeDocument/2006/relationships/slide" Target="slides/slide35.xml"/><Relationship Id="Rba09c13241ce4cf7" Type="http://schemas.openxmlformats.org/officeDocument/2006/relationships/presProps" Target="presProps.xml"/><Relationship Id="Rc551c2e487d14e6f" Type="http://schemas.openxmlformats.org/officeDocument/2006/relationships/slide" Target="slides/slide31.xml"/><Relationship Id="Rc925d0cf4ab04a8c" Type="http://schemas.openxmlformats.org/officeDocument/2006/relationships/slide" Target="slides/slide19.xml"/><Relationship Id="Rd61cc3a513964675" Type="http://schemas.openxmlformats.org/officeDocument/2006/relationships/slide" Target="slides/slide15.xml"/><Relationship Id="Rda1dd74bbb994026" Type="http://schemas.openxmlformats.org/officeDocument/2006/relationships/notesMaster" Target="notesMasters/notesMaster1.xml"/><Relationship Id="Rdab7d72e644c4b64" Type="http://schemas.openxmlformats.org/officeDocument/2006/relationships/slide" Target="slides/slide21.xml"/><Relationship Id="Rdb4533e8e16c4870" Type="http://schemas.openxmlformats.org/officeDocument/2006/relationships/slide" Target="slides/slide32.xml"/><Relationship Id="Re0f122757afc45f1" Type="http://schemas.openxmlformats.org/officeDocument/2006/relationships/viewProps" Target="viewProps.xml"/><Relationship Id="Re9d41ced353c4b95" Type="http://schemas.openxmlformats.org/officeDocument/2006/relationships/slideMaster" Target="slideMasters/slideMaster1.xml"/><Relationship Id="Rea5ad25037094a74" Type="http://schemas.openxmlformats.org/officeDocument/2006/relationships/slide" Target="slides/slide5.xml"/><Relationship Id="Reea03e1f43654f7a" Type="http://schemas.openxmlformats.org/officeDocument/2006/relationships/slide" Target="slides/slide20.xml"/><Relationship Id="Rf340ba7c99f4422f" Type="http://schemas.openxmlformats.org/officeDocument/2006/relationships/slide" Target="slides/slide23.xml"/><Relationship Id="Rfc7d99e9909542d6" Type="http://schemas.openxmlformats.org/officeDocument/2006/relationships/slide" Target="slides/slide26.xml"/><Relationship Id="Rff827354633a455d" Type="http://schemas.openxmlformats.org/officeDocument/2006/relationships/slide" Target="slides/slide18.xml"/><Relationship Id="rId35" Type="http://schemas.openxmlformats.org/officeDocument/2006/relationships/slide" Target="slides/slide12.xml"/><Relationship Id="rId36" Type="http://schemas.openxmlformats.org/officeDocument/2006/relationships/slide" Target="slides/slide14.xml"/><Relationship Id="rId37" Type="http://schemas.openxmlformats.org/officeDocument/2006/relationships/slide" Target="slides/slide29.xml"/><Relationship Id="rId38" Type="http://schemas.openxmlformats.org/officeDocument/2006/relationships/slide" Target="slides/slide9.xml"/><Relationship Id="rId39" Type="http://schemas.openxmlformats.org/officeDocument/2006/relationships/slide" Target="slides/slide17.xml"/><Relationship Id="rId40" Type="http://schemas.openxmlformats.org/officeDocument/2006/relationships/slide" Target="slides/slide34.xml"/><Relationship Id="rId41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ca15c4111da7435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5dbcc3f88b049eb" Type="http://schemas.openxmlformats.org/officeDocument/2006/relationships/slide" Target="../slides/slide1.xml"/><Relationship Id="Rca88d8e4c2fa483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f54fa7428d84963" Type="http://schemas.openxmlformats.org/officeDocument/2006/relationships/slide" Target="../slides/slide2.xml"/><Relationship Id="Rcb37be89467045c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f940f6a5c8140eb" Type="http://schemas.openxmlformats.org/officeDocument/2006/relationships/slide" Target="../slides/slide4.xml"/><Relationship Id="Rfc8c19581ebe42e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565ad0000df4129" Type="http://schemas.openxmlformats.org/officeDocument/2006/relationships/slide" Target="../slides/slide3.xml"/><Relationship Id="R5d2d1ab95d50457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e34509e4d9141bc" Type="http://schemas.openxmlformats.org/officeDocument/2006/relationships/notesMaster" Target="../notesMasters/notesMaster1.xml"/><Relationship Id="R74c7f468325048a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8a3d2b26c814103" Type="http://schemas.openxmlformats.org/officeDocument/2006/relationships/slide" Target="../slides/slide6.xml"/><Relationship Id="R377c693c60da4a9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b97eef0d7cde4aa0" Type="http://schemas.openxmlformats.org/officeDocument/2006/relationships/notesMaster" Target="../notesMasters/notesMaster1.xml"/><Relationship Id="Rd10e9d5bf32340c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2a7460a5c5c468e" Type="http://schemas.openxmlformats.org/officeDocument/2006/relationships/notesMaster" Target="../notesMasters/notesMaster1.xml"/><Relationship Id="R274e4f5fa4b64b9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46477c527684a5e" Type="http://schemas.openxmlformats.org/officeDocument/2006/relationships/slide" Target="../slides/slide10.xml"/><Relationship Id="Re12cb28d4d064a8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89eabe17f7b4bee" Type="http://schemas.openxmlformats.org/officeDocument/2006/relationships/slide" Target="../slides/slide11.xml"/><Relationship Id="Rd5e352eabf0f46f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2c1a9bb6a494302" Type="http://schemas.openxmlformats.org/officeDocument/2006/relationships/slide" Target="../slides/slide15.xml"/><Relationship Id="R554e456f2c9d429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2f43e5b87e1485a" Type="http://schemas.openxmlformats.org/officeDocument/2006/relationships/slide" Target="../slides/slide13.xml"/><Relationship Id="Re7a414cd21884afe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8e38ffe575344d1a" Type="http://schemas.openxmlformats.org/officeDocument/2006/relationships/slide" Target="../slides/slide16.xml"/><Relationship Id="Raebd26b749494f4a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e63e184c41e42c7" Type="http://schemas.openxmlformats.org/officeDocument/2006/relationships/slide" Target="../slides/slide19.xml"/><Relationship Id="R6f5c2a2f2b0f4923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80b939973ee4d7f" Type="http://schemas.openxmlformats.org/officeDocument/2006/relationships/slide" Target="../slides/slide20.xml"/><Relationship Id="R87e1295b979c461e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d8c026386474f69" Type="http://schemas.openxmlformats.org/officeDocument/2006/relationships/notesMaster" Target="../notesMasters/notesMaster1.xml"/><Relationship Id="Rd8a1aee87d5c4890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3bead5b9de524f2a" Type="http://schemas.openxmlformats.org/officeDocument/2006/relationships/notesMaster" Target="../notesMasters/notesMaster1.xml"/><Relationship Id="R44eed0c98bf44591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a1ed3c0b812a4827" Type="http://schemas.openxmlformats.org/officeDocument/2006/relationships/slide" Target="../slides/slide22.xml"/><Relationship Id="Rea5b381e057d4358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e6c152e07d343bd" Type="http://schemas.openxmlformats.org/officeDocument/2006/relationships/notesMaster" Target="../notesMasters/notesMaster1.xml"/><Relationship Id="Ra21f54056ff3446e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93c6ddbac13b4a5a" Type="http://schemas.openxmlformats.org/officeDocument/2006/relationships/notesMaster" Target="../notesMasters/notesMaster1.xml"/><Relationship Id="Re906e9540d5f4f38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30385c9f77884bdf" Type="http://schemas.openxmlformats.org/officeDocument/2006/relationships/notesMaster" Target="../notesMasters/notesMaster1.xml"/><Relationship Id="Rde2889311e184418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711ff0dd8fd8471a" Type="http://schemas.openxmlformats.org/officeDocument/2006/relationships/notesMaster" Target="../notesMasters/notesMaster1.xml"/><Relationship Id="Rc53a58a1e66c4e91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39d2c0a145be4eba" Type="http://schemas.openxmlformats.org/officeDocument/2006/relationships/notesMaster" Target="../notesMasters/notesMaster1.xml"/><Relationship Id="Rdb30da3232aa483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37e8fb25f6df4ad3" Type="http://schemas.openxmlformats.org/officeDocument/2006/relationships/slide" Target="../slides/slide25.xml"/><Relationship Id="Ra50a8a37160b4ed9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09ee1b13c4ab4880" Type="http://schemas.openxmlformats.org/officeDocument/2006/relationships/slide" Target="../slides/slide30.xml"/><Relationship Id="Rb27696af80f04c2e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5d8e5f78a7842f2" Type="http://schemas.openxmlformats.org/officeDocument/2006/relationships/notesMaster" Target="../notesMasters/notesMaster1.xml"/><Relationship Id="R624e0248252642a0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36137f0c8c6c405e" Type="http://schemas.openxmlformats.org/officeDocument/2006/relationships/slide" Target="../slides/slide32.xml"/><Relationship Id="R7e02c621b8c440fe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1c7b390969a440a" Type="http://schemas.openxmlformats.org/officeDocument/2006/relationships/notesMaster" Target="../notesMasters/notesMaster1.xml"/><Relationship Id="R44e3e9979e244d4d" Type="http://schemas.openxmlformats.org/officeDocument/2006/relationships/slide" Target="../slides/slide3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a7e8bfba8904bb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8b463db48ee4f80" Type="http://schemas.openxmlformats.org/officeDocument/2006/relationships/slideLayout" Target="../slideLayouts/slideLayout1.xml"/><Relationship Id="Reb53f6e080d7452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b463db48ee4f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3e0991284754492" Type="http://schemas.openxmlformats.org/officeDocument/2006/relationships/image" Target="../media/image.jpeg"/><Relationship Id="R459d9361c901431e" Type="http://schemas.openxmlformats.org/officeDocument/2006/relationships/notesSlide" Target="../notesSlides/notesSlide1.xml"/><Relationship Id="Rf11aba3e7806471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63b88b48f64c4aa2" Type="http://schemas.openxmlformats.org/officeDocument/2006/relationships/notesSlide" Target="../notesSlides/notesSlide2.xml"/><Relationship Id="R701d5124fc294f0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1ab10bb2aa445b6" Type="http://schemas.openxmlformats.org/officeDocument/2006/relationships/notesSlide" Target="../notesSlides/notesSlide4.xml"/><Relationship Id="R8ee11b092c874a4e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097745643924234" Type="http://schemas.openxmlformats.org/officeDocument/2006/relationships/notesSlide" Target="../notesSlides/notesSlide3.xml"/><Relationship Id="R6c345a7a2a0241c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38c41f6d2274a61" Type="http://schemas.openxmlformats.org/officeDocument/2006/relationships/slideLayout" Target="../slideLayouts/slideLayout1.xml"/><Relationship Id="R6eb9aa0c392b4bcc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b6b7dae7bc4428e" Type="http://schemas.openxmlformats.org/officeDocument/2006/relationships/slideLayout" Target="../slideLayouts/slideLayout1.xml"/><Relationship Id="R801ffd16038e4be5" Type="http://schemas.openxmlformats.org/officeDocument/2006/relationships/image" Target="../media/image.png"/><Relationship Id="R87bcb27ea0424b6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45ffbbf44024dbb" Type="http://schemas.openxmlformats.org/officeDocument/2006/relationships/notesSlide" Target="../notesSlides/notesSlide7.xml"/><Relationship Id="R94015c311e194bc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49923418f734369" Type="http://schemas.openxmlformats.org/officeDocument/2006/relationships/slideLayout" Target="../slideLayouts/slideLayout1.xml"/><Relationship Id="Rfb90d48d3e83499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66d35c7381f4a0d" Type="http://schemas.openxmlformats.org/officeDocument/2006/relationships/slideLayout" Target="../slideLayouts/slideLayout1.xml"/><Relationship Id="Rac3a7d80e9a04750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4c88230484c8461e" Type="http://schemas.openxmlformats.org/officeDocument/2006/relationships/notesSlide" Target="../notesSlides/notesSlide10.xml"/><Relationship Id="Rc107826bdca44429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bd8526cd50ee4e57" Type="http://schemas.openxmlformats.org/officeDocument/2006/relationships/slideLayout" Target="../slideLayouts/slideLayout1.xml"/><Relationship Id="Rcb3295d94c7a48a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916872ac43c94107" Type="http://schemas.openxmlformats.org/officeDocument/2006/relationships/slideLayout" Target="../slideLayouts/slideLayout1.xml"/><Relationship Id="Rf020069b6e864ecb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7959cfbe3f0e46e6" Type="http://schemas.openxmlformats.org/officeDocument/2006/relationships/slideLayout" Target="../slideLayouts/slideLayout1.xml"/><Relationship Id="Rdfba3b387dae4948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2cc3a1314afd409e" Type="http://schemas.openxmlformats.org/officeDocument/2006/relationships/slideLayout" Target="../slideLayouts/slideLayout1.xml"/><Relationship Id="R31d2811887904d40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100e9af669834e66" Type="http://schemas.openxmlformats.org/officeDocument/2006/relationships/notesSlide" Target="../notesSlides/notesSlide14.xml"/><Relationship Id="Rb2fb13cb71b64c7f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8674734b95f64f61" Type="http://schemas.openxmlformats.org/officeDocument/2006/relationships/notesSlide" Target="../notesSlides/notesSlide15.xml"/><Relationship Id="Rb151b288e6a440b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8d7578745cdb4372" Type="http://schemas.openxmlformats.org/officeDocument/2006/relationships/notesSlide" Target="../notesSlides/notesSlide16.xml"/><Relationship Id="Raf528ec48c794b39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5a443286560e406b" Type="http://schemas.openxmlformats.org/officeDocument/2006/relationships/slideLayout" Target="../slideLayouts/slideLayout1.xml"/><Relationship Id="R6846eeed7e894d6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8b7c7005b27c49b9" Type="http://schemas.openxmlformats.org/officeDocument/2006/relationships/slideLayout" Target="../slideLayouts/slideLayout1.xml"/><Relationship Id="Rf68ed08c55aa4ecd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08ff5b4184fb4303" Type="http://schemas.openxmlformats.org/officeDocument/2006/relationships/notesSlide" Target="../notesSlides/notesSlide20.xml"/><Relationship Id="R990840bfc3be4b34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1d897585c73447f3" Type="http://schemas.openxmlformats.org/officeDocument/2006/relationships/slideLayout" Target="../slideLayouts/slideLayout1.xml"/><Relationship Id="Rbc47eba9b0404b70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9c22c118112e40c4" Type="http://schemas.openxmlformats.org/officeDocument/2006/relationships/image" Target="../media/image2.png"/><Relationship Id="Rae0fbb64bccf40a7" Type="http://schemas.openxmlformats.org/officeDocument/2006/relationships/notesSlide" Target="../notesSlides/notesSlide21.xml"/><Relationship Id="Rcbc48e26c9ca4339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0972f07d91164430" Type="http://schemas.openxmlformats.org/officeDocument/2006/relationships/image" Target="../media/image3.png"/><Relationship Id="R1d4bb27b3a594fb5" Type="http://schemas.openxmlformats.org/officeDocument/2006/relationships/slideLayout" Target="../slideLayouts/slideLayout1.xml"/><Relationship Id="Rad8db24458e846fa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0317caec9e7641e0" Type="http://schemas.openxmlformats.org/officeDocument/2006/relationships/image" Target="../media/image4.png"/><Relationship Id="Rc732e86c04bf42b9" Type="http://schemas.openxmlformats.org/officeDocument/2006/relationships/notesSlide" Target="../notesSlides/notesSlide23.xml"/><Relationship Id="Rcd806061a157469a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215a864787ee40dc" Type="http://schemas.openxmlformats.org/officeDocument/2006/relationships/slideLayout" Target="../slideLayouts/slideLayout1.xml"/><Relationship Id="R696c839b68bd45f5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bed1596bedb94adb" Type="http://schemas.openxmlformats.org/officeDocument/2006/relationships/notesSlide" Target="../notesSlides/notesSlide26.xml"/><Relationship Id="Rdac77919266548c9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6608abe204db4928" Type="http://schemas.openxmlformats.org/officeDocument/2006/relationships/notesSlide" Target="../notesSlides/notesSlide27.xml"/><Relationship Id="Re138bbc62a124209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2c1de33bb68341ea" Type="http://schemas.openxmlformats.org/officeDocument/2006/relationships/notesSlide" Target="../notesSlides/notesSlide28.xml"/><Relationship Id="R762ebe770fc54d9f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C870280-BAB9-404A-9276-19DBAF1980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ns2:creationId id="{E4C9D867-BC11-438B-80EC-6572A79FE4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81E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ns2:creationId id="{E531C76A-5A4C-4141-911D-4E28E41B4A0D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">
            <a:extLst>
              <a:ext uri="{FF2B5EF4-FFF2-40B4-BE49-F238E27FC236}">
                <ns2:creationId id="{375C95E0-907C-49E5-B032-3C2DAF8D7DE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iTech Salon 2026 · 技术分享</a:t>
            </a:r>
          </a:p>
        </p:txBody>
      </p:sp>
      <p:sp>
        <p:nvSpPr>
          <p:cNvPr id="5" name="">
            <a:extLst>
              <a:ext uri="{FF2B5EF4-FFF2-40B4-BE49-F238E27FC236}">
                <ns2:creationId id="{7C5C9CFB-2AC0-46CA-BA8C-8EC28D246B0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723900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三省六部：</a:t>
            </a:r>
          </a:p>
          <a:p>
            <a:pPr algn="l">
              <a:defRPr sz="32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从历史治理逻辑</a:t>
            </a:r>
          </a:p>
          <a:p>
            <a:pPr algn="l">
              <a:defRPr sz="32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到 Agent 控制面</a:t>
            </a:r>
          </a:p>
        </p:txBody>
      </p:sp>
      <p:sp>
        <p:nvSpPr>
          <p:cNvPr id="6" name="">
            <a:extLst>
              <a:ext uri="{FF2B5EF4-FFF2-40B4-BE49-F238E27FC236}">
                <ns2:creationId id="{E3EAE4AD-CBD5-48A4-B98C-FE97809B0CD8}"/>
              </a:ext>
            </a:extLst>
          </p:cNvPr>
          <p:cNvSpPr>
            <a:spLocks noGrp="1"/>
          </p:cNvSpPr>
          <p:nvPr/>
        </p:nvSpPr>
        <p:spPr>
          <a:xfrm>
            <a:off x="647700" y="3219450"/>
            <a:ext cx="742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从隐喻界面到可治理、可观测、可接管的 Agent 控制面</a:t>
            </a:r>
          </a:p>
        </p:txBody>
      </p:sp>
      <p:sp>
        <p:nvSpPr>
          <p:cNvPr id="7" name="">
            <a:extLst>
              <a:ext uri="{FF2B5EF4-FFF2-40B4-BE49-F238E27FC236}">
                <ns2:creationId id="{BA467902-E029-4FCE-A9CC-B94799DE976C}"/>
              </a:ext>
            </a:extLst>
          </p:cNvPr>
          <p:cNvSpPr>
            <a:spLocks noGrp="1"/>
          </p:cNvSpPr>
          <p:nvPr/>
        </p:nvSpPr>
        <p:spPr>
          <a:xfrm>
            <a:off x="647700" y="3943350"/>
            <a:ext cx="1676400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ns2:creationId id="{0961D4A9-3970-4B33-A51D-0FE0A9F2BEE4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Governance</a:t>
            </a:r>
          </a:p>
        </p:txBody>
      </p:sp>
      <p:sp>
        <p:nvSpPr>
          <p:cNvPr id="9" name="">
            <a:extLst>
              <a:ext uri="{FF2B5EF4-FFF2-40B4-BE49-F238E27FC236}">
                <ns2:creationId id="{E01E6136-D00C-41F8-A62A-B1FB720A5D9E}"/>
              </a:ext>
            </a:extLst>
          </p:cNvPr>
          <p:cNvSpPr>
            <a:spLocks noGrp="1"/>
          </p:cNvSpPr>
          <p:nvPr/>
        </p:nvSpPr>
        <p:spPr>
          <a:xfrm>
            <a:off x="2533650" y="3943350"/>
            <a:ext cx="1638300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C81E1E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ns2:creationId id="{BEB7EBE1-4FCB-44E2-A3BE-3C68895265D5}"/>
              </a:ext>
            </a:extLst>
          </p:cNvPr>
          <p:cNvSpPr>
            <a:spLocks noGrp="1"/>
          </p:cNvSpPr>
          <p:nvPr/>
        </p:nvSpPr>
        <p:spPr>
          <a:xfrm>
            <a:off x="2609850" y="4010025"/>
            <a:ext cx="1485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00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Observability</a:t>
            </a:r>
          </a:p>
        </p:txBody>
      </p:sp>
      <p:sp>
        <p:nvSpPr>
          <p:cNvPr id="11" name="">
            <a:extLst>
              <a:ext uri="{FF2B5EF4-FFF2-40B4-BE49-F238E27FC236}">
                <ns2:creationId id="{1E35954E-D45C-42D9-90BE-330A7D4DD1E6}"/>
              </a:ext>
            </a:extLst>
          </p:cNvPr>
          <p:cNvSpPr>
            <a:spLocks noGrp="1"/>
          </p:cNvSpPr>
          <p:nvPr/>
        </p:nvSpPr>
        <p:spPr>
          <a:xfrm>
            <a:off x="4381500" y="3943350"/>
            <a:ext cx="1676400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ns2:creationId id="{35218167-A724-4AD8-AD09-F1AF0BE3905C}"/>
              </a:ext>
            </a:extLst>
          </p:cNvPr>
          <p:cNvSpPr>
            <a:spLocks noGrp="1"/>
          </p:cNvSpPr>
          <p:nvPr/>
        </p:nvSpPr>
        <p:spPr>
          <a:xfrm>
            <a:off x="4457700" y="4010025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Takeover</a:t>
            </a:r>
          </a:p>
        </p:txBody>
      </p:sp>
      <p:sp>
        <p:nvSpPr>
          <p:cNvPr id="13" name="">
            <a:extLst>
              <a:ext uri="{FF2B5EF4-FFF2-40B4-BE49-F238E27FC236}">
                <ns2:creationId id="{57BFDA03-7C27-4C02-B935-C2F76A77CF77}"/>
              </a:ext>
            </a:extLst>
          </p:cNvPr>
          <p:cNvSpPr>
            <a:spLocks noGrp="1"/>
          </p:cNvSpPr>
          <p:nvPr/>
        </p:nvSpPr>
        <p:spPr>
          <a:xfrm>
            <a:off x="7240000" y="1340000"/>
            <a:ext cx="4050000" cy="25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13e0991284754492"/>
          <a:stretch>
            <a:fillRect l="0" t="0" r="0" b="0"/>
          </a:stretch>
        </p:blipFill>
        <p:spPr>
          <a:xfrm>
            <a:off x="7430000" y="1480000"/>
            <a:ext cx="3650000" cy="2028000"/>
          </a:xfrm>
          <a:prstGeom prst="rect">
            <a:avLst/>
          </a:prstGeom>
        </p:spPr>
      </p:pic>
      <p:sp>
        <p:nvSpPr>
          <p:cNvPr id="15" name="">
            <a:extLst>
              <a:ext uri="{FF2B5EF4-FFF2-40B4-BE49-F238E27FC236}">
                <ns2:creationId id="{5D23CFC5-DB51-4C3C-86BE-A497ED6F02E7}"/>
              </a:ext>
            </a:extLst>
          </p:cNvPr>
          <p:cNvSpPr>
            <a:spLocks noGrp="1"/>
          </p:cNvSpPr>
          <p:nvPr/>
        </p:nvSpPr>
        <p:spPr>
          <a:xfrm>
            <a:off x="7440000" y="3840000"/>
            <a:ext cx="3650000" cy="15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iTech Salon 2026 · 受邀技术分享</a:t>
            </a:r>
          </a:p>
        </p:txBody>
      </p:sp>
      <p:sp>
        <p:nvSpPr>
          <p:cNvPr id="16" name="">
            <a:extLst>
              <a:ext uri="{FF2B5EF4-FFF2-40B4-BE49-F238E27FC236}">
                <ns2:creationId id="{0EFCD7EC-7D5E-4CC0-BE05-5E1792AE8DA1}"/>
              </a:ext>
            </a:extLst>
          </p:cNvPr>
          <p:cNvSpPr>
            <a:spLocks noGrp="1"/>
          </p:cNvSpPr>
          <p:nvPr/>
        </p:nvSpPr>
        <p:spPr>
          <a:xfrm>
            <a:off x="628650" y="6267450"/>
            <a:ext cx="514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F6877"/>
                </a:solidFill>
                <a:latin typeface="Menlo"/>
                <a:ea typeface="Menlo"/>
                <a:cs typeface="Menlo"/>
              </a:rPr>
              <a:t>褚凤天 · cft0808 · 2026.06.12</a:t>
            </a:r>
          </a:p>
        </p:txBody>
      </p:sp>
    </p:spTree>
    <p:extLst>
      <p:ext uri="{BB962C8B-B14F-4D97-AF65-F5344CB8AC3E}">
        <ns4:creationId val="6045908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A60BF0-53C2-4F69-8BD6-0E843251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4CB22-AD9C-4AD7-8F6D-CEE8EEFD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9A15E-203C-4F75-9CE7-1F030223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FD894-D909-4C6F-9C0A-17F214EB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PART 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BCD36-7A40-432B-B54F-115EF76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0A356-5DB9-4CDB-B681-1BC6EABD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先把边界说清楚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6FCB1-D77C-4D8E-9D97-C7BC2C3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这不是产品发布，而是一份从 UI 走向控制面的工程复盘。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0398A-5D5D-45C9-AB24-72E15050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C81E1E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C81E1E">
                    <a:alpha val="9412"/>
                  </a:srgbClr>
                </a:solidFill>
                <a:latin typeface="Menlo"/>
                <a:ea typeface="Menlo"/>
                <a:cs typeface="Menlo"/>
              </a:rPr>
              <a:t>PART</a:t>
            </a:r>
          </a:p>
          <a:p xmlns:a="http://schemas.openxmlformats.org/drawingml/2006/main">
            <a:pPr algn="ctr">
              <a:defRPr sz="4350" b="1">
                <a:solidFill>
                  <a:srgbClr val="C81E1E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C81E1E">
                    <a:alpha val="9412"/>
                  </a:srgbClr>
                </a:solidFill>
                <a:latin typeface="Menlo"/>
                <a:ea typeface="Menlo"/>
                <a:cs typeface="Menlo"/>
              </a:rPr>
              <a:t>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E6DBB-036B-40D7-8ADB-66C26BDA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12C21-CE47-4A54-8DD6-1E49D753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0A0DE-88FC-4DE4-8A49-D894A0BB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02 / 35</a:t>
            </a:r>
          </a:p>
        </p:txBody>
      </p:sp>
    </p:spTree>
    <p:extLst>
      <p:ext uri="{BB962C8B-B14F-4D97-AF65-F5344CB8AC3E}">
        <p14:creationId xmlns:p14="http://schemas.microsoft.com/office/powerpoint/2010/main" val="13048693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D0F9A4-1901-487F-A204-5492C5A9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19195-39D7-4826-93E5-5178211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AFA6A-3943-432E-84E7-E6D0B12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F9C0D-4FF1-4222-A908-99963700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5661C-2E86-4B9D-97A2-24E744C4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BDB0F-CDD5-4BA9-A55E-4189B22E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03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4677E-F9D0-4A4D-A5C7-A0307FA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核心判断：执行能力越强，控制面越关键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5E697-3756-41D6-8E69-49587B8E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当 Agent 从回答问题进入文件、命令、浏览器和代码仓库，系统设计的重点会从“能不能做”转向“是否可控”。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0EC9C-C499-4542-B69F-B68D619D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93138-E225-4F64-B69A-726732C3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可信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FFD0C-240B-4156-AA0D-50E1A1EE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A68DE-62DE-4FB7-9859-A1558DD4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Monitor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373F4-7758-4754-865F-D9C1CFAA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可观测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08CAF-5AD6-4982-AD6F-93B93D30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90068-75D9-416B-B9E9-2B980B9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Takeover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233BA-076F-4AC8-B115-823DDF1D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可接管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7243B-7A52-4A63-B740-06E435B5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ACCF7-5156-4E9F-B2E0-36A2D3B1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三省六部要补的是执行型 Agent 之外的运行治理层：Trace、Guardrail 和 Human Checkpoint。后文用 3 个本地案例说明它如何跑通部分闭环。</a:t>
            </a:r>
          </a:p>
        </p:txBody>
      </p:sp>
    </p:spTree>
    <p:extLst>
      <p:ext uri="{BB962C8B-B14F-4D97-AF65-F5344CB8AC3E}">
        <p14:creationId xmlns:p14="http://schemas.microsoft.com/office/powerpoint/2010/main" val="17797129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1A2C27-2E1D-459E-8AF6-66618575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D761A-5F75-4D3C-91C8-FFB550B8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8A8F6-1D63-422E-928A-8621E2D4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98A08-9F22-404E-A6E6-D404A35A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READING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7A9D1-8DE6-411B-B796-E0FEB8EE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248F0-9279-4C7C-B9B0-499BDB8C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04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DA83A-8E1B-4E23-B160-072488B7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分享路径：一个问题如何被放大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E24F8-0A85-41B9-889B-6E508377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从一个界面体验问题出发，逐步演化为任务治理、运行观测和企业落地问题。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28F9A-BD9E-4316-8748-816D23BC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F140-86D1-4D14-BF13-7D26DF43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05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1333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1FB0F-23C8-47F8-B8C0-3AAE94D4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71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08F6E-7ECB-4BC2-A208-B6C08B35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起源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CE536-C157-4C65-ACE0-A3BEB353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004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终端执行很强，但状态难管理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72042-5AC2-4CDC-9C53-0306A9D4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05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C7B79-5FB8-47AA-868A-6EDC04B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71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D10DF-1D1A-4393-B63B-5A170B3E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433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第一版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10CB2-1170-44E8-9E38-A3FB3DA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8004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把流程可视化，但运行仍会失控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7E33B-722D-42E7-BB1F-FC39295A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05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898C3-71F2-49A6-9431-43AB7A5B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71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2FFCC-EC4E-4805-9709-11F1FF2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大改版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A60EF-FA8D-4121-96F0-B232954F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004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补齐策略、证据和接管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9A23F-D07C-4CF3-853E-8632C572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E9102-59D7-475A-82F3-29FF96AB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E6CA3-2FF6-4586-B015-34EC050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5433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工程化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B1E34-8285-4E65-B74D-66B26532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004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权限、隔离、SLO、评估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5799C-87BF-491F-B464-6881DD0E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105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B78B4-D907-4C2A-8969-E984F50F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71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E9BC8-7642-4B2B-B98D-ECD335FA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433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未来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061402-129B-4BEB-9D23-7791AA8B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004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个人设备成为受控 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A848E7-926D-4683-8990-EDD56BCC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755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承接问题：为什么一个 UI 起点，会一路走到任务治理？</a:t>
            </a:r>
          </a:p>
        </p:txBody>
      </p:sp>
    </p:spTree>
    <p:extLst>
      <p:ext uri="{BB962C8B-B14F-4D97-AF65-F5344CB8AC3E}">
        <p14:creationId xmlns:p14="http://schemas.microsoft.com/office/powerpoint/2010/main" val="12933210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2C675-6949-4347-A040-6B084E69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004C5-7A31-4D98-927C-8E94FADF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B3B0C-4B4A-4B4B-976B-1B27665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BF5A0-7CD9-4ED8-9583-D222B07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PART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9A7F4-CFF6-4780-9C8A-671B3E21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8D573-69DB-4AFB-AC34-A913B0A8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起源：从任务可视化开始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50F50-5697-41F6-8664-085AE04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起点是可视化，但问题很快超出可视化。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4588C-2179-40C5-AC2E-1AF4C2D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563EB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2563EB">
                    <a:alpha val="9412"/>
                  </a:srgbClr>
                </a:solidFill>
                <a:latin typeface="Menlo"/>
                <a:ea typeface="Menlo"/>
                <a:cs typeface="Menlo"/>
              </a:rPr>
              <a:t>PART</a:t>
            </a:r>
          </a:p>
          <a:p xmlns:a="http://schemas.openxmlformats.org/drawingml/2006/main">
            <a:pPr algn="ctr">
              <a:defRPr sz="4350" b="1">
                <a:solidFill>
                  <a:srgbClr val="2563EB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2563EB">
                    <a:alpha val="9412"/>
                  </a:srgbClr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E90C6-CDB4-4CE2-8945-1C2EA921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8D76D-1449-428E-92DF-1487AC76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A3D11-C131-41FD-B206-E60EB02C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05 / 35</a:t>
            </a:r>
          </a:p>
        </p:txBody>
      </p:sp>
    </p:spTree>
    <p:extLst>
      <p:ext uri="{BB962C8B-B14F-4D97-AF65-F5344CB8AC3E}">
        <p14:creationId xmlns:p14="http://schemas.microsoft.com/office/powerpoint/2010/main" val="5895698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89C5B2-B0C6-4301-819F-1D9BEA78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DFC38-1763-4DA3-9C31-F7C862E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D0417-DF2C-4104-87CF-19222044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01708-3C7E-4975-B96A-A615142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ORIGIN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D6855-B42F-466E-9A81-40CAF702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09E72-C6EA-4BD5-A7CB-C4A8A3F5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06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83063-1733-4387-96EA-8680043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转折：真正缺的不是一个页面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4F869-3C09-4CA3-8114-E29DE260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最初的问题看起来像 UI，继续做下去才发现是跨任务治理、过程证据和交付物视图。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A9D72-D808-4017-9F6D-20FD08A3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54292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ffd16038e4be5"/>
          <a:stretch xmlns:a="http://schemas.openxmlformats.org/drawingml/2006/main"/>
        </p:blipFill>
        <p:spPr>
          <a:xfrm xmlns:a="http://schemas.openxmlformats.org/drawingml/2006/main">
            <a:off x="731797" y="2305050"/>
            <a:ext cx="5222956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DC1C1-2DD6-4E6D-A774-A4FBF556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62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OpenCode 是以 coding/runtime 为主的执行 surface；三省六部讨论的是跨任务控制面。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DBC78-A97F-4A20-8BAE-F5573E3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29DE2-5A63-498D-8745-3D7F3669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384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表层是 UI 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8C166-66B5-44B5-A8A0-ED5F0F6E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终端交互足够强，但复杂任务的状态表达和过程组织不够直观。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39DCF-68DB-45EE-A14F-1E2CE80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7BCE0-F691-4600-8DA8-4A5CDBC5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384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深层是控制面问题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8495A-D524-4D8A-8A50-AB67A093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真正需要的是分拣、规划、审批、执行、证据、回奏这些状态对象。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BDED9-7818-4E33-8026-4052CA0E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9F729-2ACE-4071-98D1-8041898E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384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治理隐喻进入设计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9E704-8FAF-4857-AF28-95CB906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用历史治理隐喻把复杂协作拆成可讨论的责任边界。</a:t>
            </a:r>
          </a:p>
        </p:txBody>
      </p:sp>
    </p:spTree>
    <p:extLst>
      <p:ext uri="{BB962C8B-B14F-4D97-AF65-F5344CB8AC3E}">
        <p14:creationId xmlns:p14="http://schemas.microsoft.com/office/powerpoint/2010/main" val="5502315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7BD45A-AEEB-429B-B666-5B8FB57A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B2CDE-978D-4FC9-BBC7-7DFD11C3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03E03-6747-452F-A36F-8FE743D8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08B40-474D-40BF-9ADC-DAF019B0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WHY IT WORKED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1FD59-17BC-45A2-918F-90F339B2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603DB-9CD8-45FC-A3E7-DAE1C422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07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215ED-8A3C-4F8F-AAF2-9BCF4F46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三省六部能传播，是因为它先解决了理解成本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6EB3F-4B60-43D2-A64A-6D2A7CE2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很多 Agent 框架一上来讲 DAG、tool call、memory、planner；三省六部先让用户知道谁该负责什么。角色是工程对象，不一定都是独立模型。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4094B-B145-471F-ACAF-CED47C3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181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C9817-077B-4230-8CD6-00107019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皇上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2FC51-94CA-43EB-91E0-5D44BE4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下达目标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79955-4C78-4789-9CE2-CD814C18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8098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CE4A0-3C20-418E-969B-DCA4655B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21512-F8D0-4FD6-8387-CF3602B3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81250"/>
            <a:ext cx="1181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D3AAB-EC72-49A7-A15F-6B19040B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241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太子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12BE8-36AD-478D-AFFD-DFE5AD28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813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分拣意图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6815B-E98E-45D9-A112-754CAE3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098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C0F36-1A78-4420-8459-F29CF534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64FFB-444F-484B-8FD0-8BE9EC6C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1181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5D69A-E18B-4B55-8172-BCA187D9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rPr>
              <a:t>中书省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EF7F2-D77F-4D24-9372-2CD64852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起草方案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90007-146E-40B9-9D84-3195DBB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098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5A1E61-3A02-4D7C-8858-AB06EF1F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4B92E-1006-4401-A206-AFF13F27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181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129C1-0E7B-4CD1-B811-2DFB6652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241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15C0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15C07"/>
                </a:solidFill>
                <a:latin typeface="PingFang SC"/>
                <a:ea typeface="PingFang SC"/>
                <a:cs typeface="PingFang SC"/>
              </a:rPr>
              <a:t>门下省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E896D-448F-463D-9FC5-9E50919C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审议封驳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70CFF7-BA3C-423F-96AE-07FFE0F4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098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9CD934-3B0A-423B-A37F-922EB4CF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5B819C-DAA3-47D4-8494-EFBE89CC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1181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DA49AE-1B8B-4E1C-87D8-8C024343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尚书省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8F8FB-DA0E-402B-9F78-9C8F7561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派发协调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096A17-FFD5-4CB6-BBAB-97A30982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98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DE7B24-1F59-41D0-82DF-CE480D84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7BEBC9-7444-4BEC-BEA5-A7CD66A7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181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A61C64-B028-4471-A5D6-5117EA5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241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六部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159626-CD09-445F-9FBF-6D1A633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执行落地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9CE6B-37A4-4C55-BF4D-584DF51C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098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8C92B8-134D-416E-AF30-ADE05A47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D29B8B-A94F-4CCA-9304-A971D9E9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1181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A596D9-9EBA-468A-AB51-C2AAC997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241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回奏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5C8034-6995-413C-8718-638682BD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交付归档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A31CE1-99D3-407A-B720-BFE8A005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Workflow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033AE5-6EA1-4A9C-880A-EDED0BB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623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A15C0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A15C07"/>
                </a:solidFill>
                <a:latin typeface="Menlo"/>
                <a:ea typeface="Menlo"/>
                <a:cs typeface="Menlo"/>
              </a:rPr>
              <a:t>Policy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787E7F-0286-4F27-8D94-8038475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Agent / Tool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11738F-9274-4816-BA32-9EE52877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623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ED5A5B-675C-4AEF-889F-AF9A4D35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隐喻的价值不是“好玩”，而是把多 Agent 的职责边界翻译成普通人能讨论的语言。</a:t>
            </a:r>
          </a:p>
        </p:txBody>
      </p:sp>
    </p:spTree>
    <p:extLst>
      <p:ext uri="{BB962C8B-B14F-4D97-AF65-F5344CB8AC3E}">
        <p14:creationId xmlns:p14="http://schemas.microsoft.com/office/powerpoint/2010/main" val="1591603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B852E-B32A-4EB3-995A-F342C67B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D0C2F-1649-4414-9309-08225BB0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850E5-CE8F-4FD6-A548-1256AD2F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32A42-88B0-4E2F-90F5-55B48E46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V1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88A83-9926-407A-9CEF-6E6AC13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86C11-1C7B-40CF-BFB2-3C820952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08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90EF2-2392-4432-8397-5CF9017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第一版解决了入口，没有解决运行治理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A9749-775D-4192-AA5D-675018B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社区关注放大了早期设计中的工程边界问题。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B5E56-F9ED-43F4-B6EE-14DD88C4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2421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DDA2F-E7BA-4CF4-A376-1FFEDB4A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05168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E1B06-63DC-418C-87BD-4724980A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2038350"/>
            <a:ext cx="366903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B232A-505E-4FBE-8C09-4223634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335" y="2124075"/>
            <a:ext cx="34785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表面现象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3D026-B091-4772-9310-31F74CCF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115" y="2038350"/>
            <a:ext cx="428053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807FF-6EEB-4438-BC72-0A84946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365" y="2124075"/>
            <a:ext cx="4090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真正缺口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2067A-9761-4E97-808B-5A41C493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2421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9215E-6BE0-4988-A4CE-45C2A49A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05168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任务卡住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66039-ED55-44E2-AFB6-9F1927BE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2590800"/>
            <a:ext cx="366903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8EAE7-546E-4455-97A1-C87DCA30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335" y="2676525"/>
            <a:ext cx="34785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太子不执行、尚书不派发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FEDFA-2118-46A3-9A75-6FC697E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115" y="2590800"/>
            <a:ext cx="428053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7CF4A-6CE6-4C88-9EEB-0B9AE7CB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365" y="2676525"/>
            <a:ext cx="4090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缺少 Worker/队列/Session 的硬诊断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44224-0BD1-4F86-A5B3-D5F76D34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2421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AFF24-B129-40E5-9717-879AA3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05168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信息混乱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C6A36-EE8A-479C-9899-1FDE7CB3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3143250"/>
            <a:ext cx="366903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810DD-68F6-4010-B8E3-BBB6004A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335" y="3228975"/>
            <a:ext cx="34785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页面重复、状态说不清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D85A8-564C-4587-AB31-80C2AF6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115" y="3143250"/>
            <a:ext cx="428053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9BF86-7D50-4CB6-9B1C-9331A24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365" y="3228975"/>
            <a:ext cx="4090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缺少统一事件源和证据链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D071A-A53A-4DF8-AC21-FB18D14B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2421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7B2B6-C85F-41AD-9E6B-0F2A3FB5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205168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模型不可控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CE402-5592-4BB4-8CBC-A6AF145D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3695700"/>
            <a:ext cx="366903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B7984A-CE06-47DD-A94E-D5C8D232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335" y="3781425"/>
            <a:ext cx="34785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OpenCode 已配置模型未同步到三省六部模型注册表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3F8521-291E-477E-B4F0-D7492534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115" y="3695700"/>
            <a:ext cx="428053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E4321F-C902-4464-84B2-1A10DF7D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365" y="3781425"/>
            <a:ext cx="4090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模型注册、延迟观测、降级策略未闭环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9BA69B-6C1D-48E5-983D-830B424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2421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6958ED-2470-4DEB-93A5-C7E0E7D6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5168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终止条件缺失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7EFB3A-8E77-4FBE-9694-41A71ED2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4248150"/>
            <a:ext cx="366903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26C9DF-3474-468E-BA77-D6CE8384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335" y="4333875"/>
            <a:ext cx="34785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卡住后只能人工猜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74C7D8-48A1-47D2-8019-DA306B14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115" y="4248150"/>
            <a:ext cx="428053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200BCE-2B96-4FF0-B4A4-A90FD3CE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365" y="4333875"/>
            <a:ext cx="4090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缺少 max_turns / timeout / handoff_to_user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4831DA-D8FC-40E6-9311-26DC328F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224218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331301-B4EE-494E-8E32-60E9A72B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205168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企业不敢用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212DB5-8D71-44A6-BB96-62DE19E3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4800600"/>
            <a:ext cx="366903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9DCD4E-1FDC-4557-B431-371727DB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335" y="4886325"/>
            <a:ext cx="34785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Agent 能动文件和命令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4FF98C-218C-4294-A379-9B6C1CF1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115" y="4800600"/>
            <a:ext cx="428053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563212-AA40-402A-919F-F332E6D6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365" y="4886325"/>
            <a:ext cx="4090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缺少工具 schema、敏感数据分级和执行层强约束</a:t>
            </a:r>
          </a:p>
        </p:txBody>
      </p:sp>
    </p:spTree>
    <p:extLst>
      <p:ext uri="{BB962C8B-B14F-4D97-AF65-F5344CB8AC3E}">
        <p14:creationId xmlns:p14="http://schemas.microsoft.com/office/powerpoint/2010/main" val="343448443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2743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00" b="1">
                <a:solidFill>
                  <a:srgbClr val="C81E1E"/>
                </a:solidFill>
                <a:latin typeface="PingFang SC"/>
              </a:rPr>
              <a:t>FAILURE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78992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ingFang SC"/>
              </a:rPr>
              <a:t>踩过的坑：Session 活着，不等于任务能跑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7899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PingFang SC"/>
              </a:rPr>
              <a:t>一次真实卡顿把问题从“页面状态”逼回了 runtime / queue / session 绑定。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54864" cy="2743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11679"/>
            <a:ext cx="24231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C81E1E"/>
                </a:solidFill>
                <a:latin typeface="PingFang SC"/>
              </a:rPr>
              <a:t>表面现象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2423160" cy="2148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派发失败、Session not found、看板像是“卡住”。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用户看到的是任务不动，系统看到的是旧状态还在。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74519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74519"/>
            <a:ext cx="54864" cy="2743200"/>
          </a:xfrm>
          <a:prstGeom prst="rect">
            <a:avLst/>
          </a:prstGeom>
          <a:solidFill>
            <a:srgbClr val="A15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2011679"/>
            <a:ext cx="24231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A15C07"/>
                </a:solidFill>
                <a:latin typeface="PingFang SC"/>
              </a:rPr>
              <a:t>根因类型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350008"/>
            <a:ext cx="2423160" cy="2148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进程健康不等于会话健康；旧 outbox / 模型健康记录可能污染当前判断。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874519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1874519"/>
            <a:ext cx="54864" cy="274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2011679"/>
            <a:ext cx="24231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PingFang SC"/>
              </a:rPr>
              <a:t>修复方向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350008"/>
            <a:ext cx="2423160" cy="2148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把 task_id / trace_id / session / outbox 串起来；区分真实失败和历史噪声。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874519"/>
            <a:ext cx="19659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0" y="1874519"/>
            <a:ext cx="54864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8" y="2011679"/>
            <a:ext cx="164591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PingFang SC"/>
              </a:rPr>
              <a:t>教训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2350008"/>
            <a:ext cx="1645919" cy="2148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可观测性不是多放日志，而是让当前堵点浮上来。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38928"/>
            <a:ext cx="10881360" cy="530352"/>
          </a:xfrm>
          <a:prstGeom prst="roundRect">
            <a:avLst/>
          </a:prstGeom>
          <a:solidFill>
            <a:srgbClr val="FFF7ED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F172A"/>
                </a:solidFill>
                <a:latin typeface="PingFang SC"/>
              </a:rPr>
              <a:t>转场：第一版的问题不是“不够好看”，而是缺少把任务变成可治理对象的控制面。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三省六部 · Agent Workbench 工程化复盘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09 / 35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D7D46-BC41-4D59-B8C9-619AB135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0AFAF-21EC-481E-BB98-7242C761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49EEF-0F00-40CC-8240-4A3AD179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14A56-DE87-4816-8709-B1DC901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PART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ED3A5-E178-404E-A1A3-53C7E82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9DCA1-F478-4D59-9266-551EBB78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大改版：从 UI 看板到 Agent 控制面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95638-8994-4BC3-844F-DB8D99DB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新版本不是把页面做漂亮，而是把任务变成可治理、可追踪、可恢复的对象。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C8017-C4F3-4219-A06C-58D5B596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C81E1E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C81E1E">
                    <a:alpha val="9412"/>
                  </a:srgbClr>
                </a:solidFill>
                <a:latin typeface="Menlo"/>
                <a:ea typeface="Menlo"/>
                <a:cs typeface="Menlo"/>
              </a:rPr>
              <a:t>PART</a:t>
            </a:r>
          </a:p>
          <a:p xmlns:a="http://schemas.openxmlformats.org/drawingml/2006/main">
            <a:pPr algn="ctr">
              <a:defRPr sz="4350" b="1">
                <a:solidFill>
                  <a:srgbClr val="C81E1E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C81E1E">
                    <a:alpha val="9412"/>
                  </a:srgbClr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E89A0-07EC-48C7-9CA5-75F32613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F3107-B8A5-4290-87B6-82FB6FDD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C22CE-D321-4C09-9587-0C5CEF09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10 / 35</a:t>
            </a:r>
          </a:p>
        </p:txBody>
      </p:sp>
    </p:spTree>
    <p:extLst>
      <p:ext uri="{BB962C8B-B14F-4D97-AF65-F5344CB8AC3E}">
        <p14:creationId xmlns:p14="http://schemas.microsoft.com/office/powerpoint/2010/main" val="10847820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64A0E-1379-4BA3-BE3F-300D4690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02B76-B74F-41B7-AD08-C783C170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9AEF8-88EE-4383-93FA-B3D5B601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28086-5711-4C6C-8658-AA57AF58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CONTROL SPINE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650CE-8E76-4FCE-9D04-819C7E27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18754-DBD5-46BA-99C8-E8FBE013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11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F486A-D6BF-47A6-862E-D946612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把一次自然语言请求变成可治理的运行链路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AA0B8-FD36-4BE8-8FD4-FEA97E3F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当前先覆盖高频、低歧义、可测试任务：把目标编译成 RunSpec，再由 Policy 和 Evidence 收口。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F9907-91FF-43BA-8B79-26745DFF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D7DBE-4B17-49E3-BF3E-E7CCF189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0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1333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05847-615E-4F2B-9BA2-B99D2161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670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E8744-15E9-49CC-8256-4ECF5001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自然语言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56861-2F5C-4214-A996-D1DE92F7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用户尽量少操作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89CC3-62B6-43AC-B6C3-68018810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01014-27A8-40D6-A6AF-A163622D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670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1561B-37B4-4903-B656-27C78C26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385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RunSpec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AD591-3D17-4374-9B88-9EF720EC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956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目标、成功标准、工具、终止条件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82707-6052-486D-BD05-E52B4A78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00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BF33C-6892-48E0-9700-282C9F82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670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B6544-C861-42B4-A3CE-FE36FE74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73274-31F6-4344-A03A-F0F018E3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56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权限和风险前置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61811-F28F-4E2C-8B5F-A556EB4A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0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456EF-9379-4C81-9700-4BC1166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670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C3E0D-10B8-42D2-AC98-DF8D1D1F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385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6B3A88-27CF-40CA-B693-992CD2EE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956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OpenCode 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B992B-7680-47D9-9D7F-C59F4FF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00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C3D57-2284-468E-AD7C-22F4698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8670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5B43B-63B4-4A56-966B-8AECE089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FAACCD-1009-4DC0-AEE1-94B3A863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9567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产物和证据归档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EC24F-8FAA-45D3-ABEE-3FE4AF57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7"/>
          </a:solidFill>
          <a:ln xmlns:a="http://schemas.openxmlformats.org/drawingml/2006/main" w="9525">
            <a:solidFill>
              <a:srgbClr val="FEC8D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3D6416-E834-4A22-843E-35F3E0A0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RunSpec 先回答“要做什么”；下一页回答“它从哪里来、错了怎么办”。</a:t>
            </a:r>
          </a:p>
        </p:txBody>
      </p:sp>
    </p:spTree>
    <p:extLst>
      <p:ext uri="{BB962C8B-B14F-4D97-AF65-F5344CB8AC3E}">
        <p14:creationId xmlns:p14="http://schemas.microsoft.com/office/powerpoint/2010/main" val="1508251161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64592"/>
            <a:ext cx="14173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301752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Menlo"/>
              </a:rPr>
              <a:t>RUNSPEC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"/>
            <a:ext cx="100584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PingFang SC"/>
              </a:rPr>
              <a:t>RunSpec 先说清楚：规则不是大脑，是安全脚手架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115568"/>
            <a:ext cx="104241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4B5563"/>
                </a:solidFill>
                <a:latin typeface="PingFang SC"/>
              </a:rPr>
              <a:t>V0 先用确定性编译保证可解释、可测试、可回放；模型只做候选提取，安全字段由 schema + policy + human preview 收口。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PingFang SC"/>
              </a:rPr>
              <a:t>三省六部 · Agent Workbench 工程化复盘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10058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6B7280"/>
                </a:solidFill>
                <a:latin typeface="Menlo"/>
              </a:rPr>
              <a:t>12 / 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39112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11827"/>
                </a:solidFill>
                <a:latin typeface="PingFang SC"/>
              </a:rPr>
              <a:t>User Goal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4B5563"/>
                </a:solidFill>
                <a:latin typeface="PingFang SC"/>
              </a:rPr>
              <a:t>自然语言目标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9" y="2240279"/>
            <a:ext cx="137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6B7280"/>
                </a:solidFill>
                <a:latin typeface="Menl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2576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22576" y="1874519"/>
            <a:ext cx="54864" cy="960120"/>
          </a:xfrm>
          <a:prstGeom prst="rect">
            <a:avLst/>
          </a:prstGeom>
          <a:solidFill>
            <a:srgbClr val="694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3744" y="2039112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11827"/>
                </a:solidFill>
                <a:latin typeface="PingFang SC"/>
              </a:rPr>
              <a:t>Intent Candidate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4B5563"/>
                </a:solidFill>
                <a:latin typeface="PingFang SC"/>
              </a:rPr>
              <a:t>LLM / rule hybrid</a:t>
            </a:r>
            <a:br/>
            <a:r>
              <a:rPr sz="950">
                <a:solidFill>
                  <a:srgbClr val="4B5563"/>
                </a:solidFill>
                <a:latin typeface="PingFang SC"/>
              </a:rPr>
              <a:t>生成候选意图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2240279"/>
            <a:ext cx="137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6B7280"/>
                </a:solidFill>
                <a:latin typeface="Menl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42232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42232" y="1874519"/>
            <a:ext cx="54864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039112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11827"/>
                </a:solidFill>
                <a:latin typeface="PingFang SC"/>
              </a:rPr>
              <a:t>Schema Validator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4B5563"/>
                </a:solidFill>
                <a:latin typeface="PingFang SC"/>
              </a:rPr>
              <a:t>字段完整性 / 类型 / 冲突检查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2240279"/>
            <a:ext cx="137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6B7280"/>
                </a:solidFill>
                <a:latin typeface="Menl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888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61888" y="1874519"/>
            <a:ext cx="54864" cy="96012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5" y="2039112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11827"/>
                </a:solidFill>
                <a:latin typeface="PingFang SC"/>
              </a:rPr>
              <a:t>Policy Overlay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4B5563"/>
                </a:solidFill>
                <a:latin typeface="PingFang SC"/>
              </a:rPr>
              <a:t>tool allowlist / scope / risk 取高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2240279"/>
            <a:ext cx="137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6B7280"/>
                </a:solidFill>
                <a:latin typeface="Menl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81544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81544" y="1874519"/>
            <a:ext cx="54864" cy="960120"/>
          </a:xfrm>
          <a:prstGeom prst="rect">
            <a:avLst/>
          </a:prstGeom>
          <a:solidFill>
            <a:srgbClr val="02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039112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11827"/>
                </a:solidFill>
                <a:latin typeface="PingFang SC"/>
              </a:rPr>
              <a:t>Human Preview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4B5563"/>
                </a:solidFill>
                <a:latin typeface="PingFang SC"/>
              </a:rPr>
              <a:t>高风险 / 低置信度 / 信息不足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2240279"/>
            <a:ext cx="137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6B7280"/>
                </a:solidFill>
                <a:latin typeface="Menl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874519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8" y="2039112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11827"/>
                </a:solidFill>
                <a:latin typeface="PingFang SC"/>
              </a:rPr>
              <a:t>Immutable RunSpec</a:t>
            </a:r>
          </a:p>
          <a:p>
            <a:pPr>
              <a:lnSpc>
                <a:spcPct val="112000"/>
              </a:lnSpc>
            </a:pPr>
            <a:r>
              <a:rPr sz="950">
                <a:solidFill>
                  <a:srgbClr val="4B5563"/>
                </a:solidFill>
                <a:latin typeface="PingFang SC"/>
              </a:rPr>
              <a:t>写入 Trace 后再进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3375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111827"/>
                </a:solidFill>
                <a:latin typeface="PingFang SC"/>
              </a:rPr>
              <a:t>提前回答评审最可能问的四句话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3730752"/>
            <a:ext cx="51663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" y="3730752"/>
            <a:ext cx="54864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" y="3895344"/>
            <a:ext cx="48463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11827"/>
                </a:solidFill>
                <a:latin typeface="PingFang SC"/>
              </a:rPr>
              <a:t>不是承诺“理解任意自然语言”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4B5563"/>
                </a:solidFill>
                <a:latin typeface="PingFang SC"/>
              </a:rPr>
              <a:t>当前只覆盖高频、可解释、可测试的任务类型。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3730752"/>
            <a:ext cx="51663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3730752"/>
            <a:ext cx="54864" cy="804672"/>
          </a:xfrm>
          <a:prstGeom prst="rect">
            <a:avLst/>
          </a:prstGeom>
          <a:solidFill>
            <a:srgbClr val="694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95344"/>
            <a:ext cx="48463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11827"/>
                </a:solidFill>
                <a:latin typeface="PingFang SC"/>
              </a:rPr>
              <a:t>规则是 bootstrap compiler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4B5563"/>
                </a:solidFill>
                <a:latin typeface="PingFang SC"/>
              </a:rPr>
              <a:t>不是最终智能；后续演进到配置化策略、LLM extraction 和 eval set。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4782312"/>
            <a:ext cx="51663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4782312"/>
            <a:ext cx="54864" cy="80467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19" y="4946904"/>
            <a:ext cx="48463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11827"/>
                </a:solidFill>
                <a:latin typeface="PingFang SC"/>
              </a:rPr>
              <a:t>RunSpec 不是唯一裁判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4B5563"/>
                </a:solidFill>
                <a:latin typeface="PingFang SC"/>
              </a:rPr>
              <a:t>实际 tool call 进入 Runtime 前仍按 capability / resource / action 二次校验。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4782312"/>
            <a:ext cx="51663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4782312"/>
            <a:ext cx="54864" cy="8046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946904"/>
            <a:ext cx="48463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11827"/>
                </a:solidFill>
                <a:latin typeface="PingFang SC"/>
              </a:rPr>
              <a:t>风险处理取高不取低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4B5563"/>
                </a:solidFill>
                <a:latin typeface="PingFang SC"/>
              </a:rPr>
              <a:t>字段冲突、低置信度、高风险动作直接进入人工预览或策略阻断。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5925312"/>
            <a:ext cx="1051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4B5563"/>
                </a:solidFill>
                <a:latin typeface="PingFang SC"/>
              </a:rPr>
              <a:t>落点：模型负责提议，Schema 负责校验，Policy 负责裁决，高风险由人放行。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C63AF-39C8-4B5F-ACD2-404651AB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75E24-FF18-4E69-BE08-51D38348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F658E-10D8-434D-BE4B-399B85FE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05DBE-20C2-41D2-AEED-E9A29102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CONTROL VS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2400C-2E10-4793-A929-8992D125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E7150-2F25-46CC-B097-19664C5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13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C7A20-27C6-4F3D-9943-246C7F10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</a:rPr>
              <a:t>OpenCode 在这里是执行面，三省六部是任务控制面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BE8FC-DED0-4253-8598-76D5360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50">
                <a:solidFill>
                  <a:srgbClr val="4B5563"/>
                </a:solidFill>
                <a:latin typeface="PingFang SC"/>
              </a:rPr>
              <a:t>不是谁替代谁：执行型 Agent 已有 runtime 级权限与会话控制；三省六部补跨任务治理、证据和接管。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D1607-0258-4CF7-BEF8-246507A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81737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F0A3E-8045-48B7-AC01-513DBF7E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6268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4CD27-CE09-4A81-A9EB-2C20E6DB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152650"/>
            <a:ext cx="393763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ED97E-B13A-4824-A206-7B7D12EC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2238375"/>
            <a:ext cx="374713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单独使用 OpenCode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69A78-BBD2-4829-BC13-D2BFC542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955" y="2152650"/>
            <a:ext cx="434149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0F74F-155C-46E9-AB1E-689BA8C2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205" y="2238375"/>
            <a:ext cx="415099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接入三省六部控制面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DA254-865B-41FB-94B2-D8CF8FAA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81737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A9189-FA81-49D4-A367-A1C4A9E9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6268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任务入口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12F0C-BD1F-4E29-B3B2-B1AA646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762250"/>
            <a:ext cx="393763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EBDA3-CA13-4FBF-8CC3-EABBACAB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2847975"/>
            <a:ext cx="374713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开发者会话 / coding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8463C-6A25-4AEF-B1CC-EE7D3F3C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955" y="2762250"/>
            <a:ext cx="434149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6200B-7376-4676-8237-58FC6A8F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205" y="2847975"/>
            <a:ext cx="415099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统一指令入口和 typed task object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A1346-F24C-42DA-91EF-5DA8B53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81737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A4D4B-6D5D-4852-B1B8-93F6289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6268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3526A-9D97-433C-9DB7-CF77E2BC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371850"/>
            <a:ext cx="393763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00240-7479-401F-92DD-2D84FF9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3457575"/>
            <a:ext cx="374713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原生 provider / model 选择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B199E-6C91-43DB-91A1-366F6F6F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955" y="3371850"/>
            <a:ext cx="434149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3966D-D20C-4DC8-82AE-EB074526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205" y="3457575"/>
            <a:ext cx="415099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同步注册表、延迟、失败和降级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05C6B-DC2D-4F15-B5E7-930C90E4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81737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D14A7-B48A-42D0-BB4B-0B45B991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16268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执行证据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DFD3C1-3D1E-40C3-B6DF-49A4109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981450"/>
            <a:ext cx="393763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E936CC-F007-4501-8555-A509D27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4067175"/>
            <a:ext cx="374713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会话内上下文与操作过程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88E24-391F-4506-B13F-0397486B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955" y="3981450"/>
            <a:ext cx="434149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760166-6E21-4771-8E2A-EA0D29AC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205" y="4067175"/>
            <a:ext cx="415099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task_id / trace_id / artifact / approval 统一归档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710742-D0A4-4C58-BD1C-A33CA7B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81737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C774CC-822D-44DC-9615-9FEE6E19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16268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企业管控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CBC93A-1388-4CF1-B1EC-B35D7381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591050"/>
            <a:ext cx="393763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DF85A7-E19A-4629-B8D8-6C857010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4676775"/>
            <a:ext cx="374713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已有 permission / policy / plan 能力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51826E-3D6E-45F9-875A-41E3E3A9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955" y="4591050"/>
            <a:ext cx="434149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8B1FA4-EB9D-4589-B9BD-4E34FB6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205" y="4676775"/>
            <a:ext cx="415099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叠加任务级审批、scope、risk、evidence_required</a:t>
            </a:r>
          </a:p>
        </p:txBody>
      </p:sp>
      <p:sp xmlns:a="http://schemas.openxmlformats.org/drawingml/2006/main">
        <p:nvSpPr>
          <p:cNvPr id="39" name="Rounded Rectangle 38"/>
          <p:cNvSpPr/>
          <p:nvPr/>
        </p:nvSpPr>
        <p:spPr>
          <a:xfrm>
            <a:off x="594360" y="5532120"/>
            <a:ext cx="10972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594360" y="5532120"/>
            <a:ext cx="54864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795528" y="5696712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11827"/>
                </a:solidFill>
                <a:latin typeface="PingFang SC"/>
              </a:rPr>
              <a:t>一句话边界</a:t>
            </a:r>
          </a:p>
          <a:p>
            <a:pPr>
              <a:lnSpc>
                <a:spcPct val="112000"/>
              </a:lnSpc>
            </a:pPr>
            <a:r>
              <a:rPr sz="1019">
                <a:solidFill>
                  <a:srgbClr val="4B5563"/>
                </a:solidFill>
                <a:latin typeface="PingFang SC"/>
              </a:rPr>
              <a:t>单人低风险探索直接用执行型 Agent；多任务、跨会话、要审计/回滚/接管时，才需要任务控制面。</a:t>
            </a:r>
          </a:p>
        </p:txBody>
      </p:sp>
    </p:spTree>
    <p:extLst>
      <p:ext uri="{BB962C8B-B14F-4D97-AF65-F5344CB8AC3E}">
        <p14:creationId xmlns:p14="http://schemas.microsoft.com/office/powerpoint/2010/main" val="1016725445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64592"/>
            <a:ext cx="14173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301752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Menlo"/>
              </a:rPr>
              <a:t>CONTROL VS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"/>
            <a:ext cx="100584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PingFang SC"/>
              </a:rPr>
              <a:t>OpenCode 与三省六部：不是竞品，是上下两层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115568"/>
            <a:ext cx="104241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4B5563"/>
                </a:solidFill>
                <a:latin typeface="PingFang SC"/>
              </a:rPr>
              <a:t>把“会话里的执行能力”升级成“组织里可治理的任务对象”，关键差别在任务边界、权限、证据和接管。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PingFang SC"/>
              </a:rPr>
              <a:t>三省六部 · Agent Workbench 工程化复盘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10058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6B7280"/>
                </a:solidFill>
                <a:latin typeface="Menlo"/>
              </a:rPr>
              <a:t>14 / 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4864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93392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latin typeface="PingFang SC"/>
              </a:rPr>
              <a:t>OpenCode / Claude Code</a:t>
            </a:r>
          </a:p>
          <a:p>
            <a:r>
              <a:rPr sz="950">
                <a:latin typeface="PingFang SC"/>
              </a:rPr>
              <a:t>执行面 Runtime</a:t>
            </a:r>
          </a:p>
          <a:p>
            <a:r>
              <a:rPr sz="950">
                <a:latin typeface="PingFang SC"/>
              </a:rPr>
              <a:t>以 coding/runtime 为主：读仓库、跑命令、改文件、调模型</a:t>
            </a:r>
          </a:p>
          <a:p>
            <a:r>
              <a:rPr sz="950">
                <a:latin typeface="PingFang SC"/>
              </a:rPr>
              <a:t>优势：单会话推进直接、低启动成本</a:t>
            </a:r>
          </a:p>
          <a:p>
            <a:r>
              <a:rPr sz="950">
                <a:latin typeface="PingFang SC"/>
              </a:rPr>
              <a:t>边界：组织级任务对象、统一审计和 SLO 需额外控制面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697480"/>
            <a:ext cx="228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6B7280"/>
                </a:solidFill>
                <a:latin typeface="Menl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54864" cy="1965960"/>
          </a:xfrm>
          <a:prstGeom prst="rect">
            <a:avLst/>
          </a:prstGeom>
          <a:solidFill>
            <a:srgbClr val="694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993392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latin typeface="PingFang SC"/>
              </a:rPr>
              <a:t>三省六部 Agent Workbench</a:t>
            </a:r>
          </a:p>
          <a:p>
            <a:r>
              <a:rPr sz="950">
                <a:latin typeface="PingFang SC"/>
              </a:rPr>
              <a:t>任务级 Control Plane</a:t>
            </a:r>
          </a:p>
          <a:p>
            <a:r>
              <a:rPr sz="950">
                <a:latin typeface="PingFang SC"/>
              </a:rPr>
              <a:t>RunSpec、Policy Gate、Queue、Trace、Evidence</a:t>
            </a:r>
          </a:p>
          <a:p>
            <a:r>
              <a:rPr sz="950">
                <a:latin typeface="PingFang SC"/>
              </a:rPr>
              <a:t>优势：跨任务可管理、过程可追踪</a:t>
            </a:r>
          </a:p>
          <a:p>
            <a:r>
              <a:rPr sz="950">
                <a:latin typeface="PingFang SC"/>
              </a:rPr>
              <a:t>边界：早期规则与策略仍需真实试点校验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697480"/>
            <a:ext cx="228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6B7280"/>
                </a:solidFill>
                <a:latin typeface="Menl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54864" cy="1965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993392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latin typeface="PingFang SC"/>
              </a:rPr>
              <a:t>企业 IT / 平台治理</a:t>
            </a:r>
          </a:p>
          <a:p>
            <a:r>
              <a:rPr sz="950">
                <a:latin typeface="PingFang SC"/>
              </a:rPr>
              <a:t>组织面 Enterprise Ops</a:t>
            </a:r>
          </a:p>
          <a:p>
            <a:r>
              <a:rPr sz="950">
                <a:latin typeface="PingFang SC"/>
              </a:rPr>
              <a:t>审批人、组织策略、敏感数据分级、SLO、审计留存</a:t>
            </a:r>
          </a:p>
          <a:p>
            <a:r>
              <a:rPr sz="950">
                <a:latin typeface="PingFang SC"/>
              </a:rPr>
              <a:t>价值：把任务控制面接到真实制度</a:t>
            </a:r>
          </a:p>
          <a:p>
            <a:r>
              <a:rPr sz="950">
                <a:latin typeface="PingFang SC"/>
              </a:rPr>
              <a:t>边界：需要 IAM、审计、数据治理等平台集成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1">
                <a:solidFill>
                  <a:srgbClr val="111827"/>
                </a:solidFill>
                <a:latin typeface="PingFang SC"/>
              </a:rPr>
              <a:t>什么时候只用 OpenCode？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47548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4B5563"/>
                </a:solidFill>
                <a:latin typeface="PingFang SC"/>
              </a:rPr>
              <a:t>低风险临时探索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4B5563"/>
                </a:solidFill>
                <a:latin typeface="PingFang SC"/>
              </a:rPr>
              <a:t>单人会话能闭环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4B5563"/>
                </a:solidFill>
                <a:latin typeface="PingFang SC"/>
              </a:rPr>
              <a:t>不要求审计、审批、回滚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251960"/>
            <a:ext cx="3474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1">
                <a:solidFill>
                  <a:srgbClr val="111827"/>
                </a:solidFill>
                <a:latin typeface="PingFang SC"/>
              </a:rPr>
              <a:t>什么时候接三省六部？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617720"/>
            <a:ext cx="493776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4B5563"/>
                </a:solidFill>
                <a:latin typeface="PingFang SC"/>
              </a:rPr>
              <a:t>多任务并发 / 跨会话跟踪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4B5563"/>
                </a:solidFill>
                <a:latin typeface="PingFang SC"/>
              </a:rPr>
              <a:t>涉及文件、命令、仓库、审批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4B5563"/>
                </a:solidFill>
                <a:latin typeface="PingFang SC"/>
              </a:rPr>
              <a:t>需要证据链、SLO、接管和回滚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97880"/>
            <a:ext cx="11064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PingFang SC"/>
              </a:rPr>
              <a:t>结论：不是抢活，而是让“能干活”变成“敢放权”。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EF63C-94A2-4C78-B721-B181AB2D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59A61-62B9-4675-B6D8-52CCCCE5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9DC5B-2799-4D0C-BB2F-D7D5B3A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0648E-C8CF-46A9-8D9F-3E7A11C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CONTROL PLANE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B0402-0113-4A04-B8B5-8DDE47A2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7044D-9ACE-456C-B4BF-D5E79577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15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5ACFC-C156-47D6-802C-19598767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控制面全貌：治理、执行、证据三条线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35786-2BC9-4E07-9477-9730BFF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阅读顺序：①治理线（Goal→RunSpec→Policy） ②执行线（Orchestrator→Runtime） ③证据线（Trace→Evidence→Monitoring）。复杂 handoff 由实现层约束。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B0B24-CE3A-41CC-9DED-FA4864D9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0C666-4D21-402C-BE3C-6BEEE187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①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26E3A-E17E-417D-B33C-41AE64E2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DBF58-6927-4261-90F9-CA5349FA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027A48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027A48"/>
                </a:solidFill>
                <a:latin typeface="Menlo"/>
                <a:ea typeface="Menlo"/>
                <a:cs typeface="Menlo"/>
              </a:rPr>
              <a:t>②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63817-FA6F-4395-BD87-B2EDB826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B3A84-F4C0-4B19-BB6E-FFB35CE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③ EVIDENCE &amp; 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27147-2B68-446A-9E2E-E1E53869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7"/>
          </a:solidFill>
          <a:ln xmlns:a="http://schemas.openxmlformats.org/drawingml/2006/main" w="952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08616-18F1-446C-9561-A2674EB2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447D9-DFC0-4AE5-B2D4-99D758E2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用户目标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5BB6C-B097-4A13-80F7-898D7ED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自然语言输入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84673-0B01-4A70-9ED8-2E5D2BD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DC5F7-7444-4890-B1A2-6FB378AD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27CDC-8AE4-40DD-9706-445B174F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Command Gateway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BFEA4-FF51-4CF4-829F-156FE9DE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统一入口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97B17-5085-4595-8EAD-DE7D0DD1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B4F38-3FBC-42AB-BA30-D8546504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61EBC-AA54-4B08-80D7-C1C14C1A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rPr>
              <a:t>RunSpec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AFD4C-FD7A-469C-9E49-6D332630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目标 / 成功标准 / 工具 / 终止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33E4A-2E6B-4E02-978B-C5ACFDC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536EBF-9823-4BA5-B3D4-49CAE217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BEC7D-F4BC-4E2D-8AE1-E8C19F0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5C0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15C07"/>
                </a:solidFill>
                <a:latin typeface="PingFang SC"/>
                <a:ea typeface="PingFang SC"/>
                <a:cs typeface="PingFang SC"/>
              </a:rPr>
              <a:t>Policy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CBA9E-B7ED-424D-B75E-D5C2B019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能力识别 / 风险分级 / 权限校验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8C3AE-B2A6-46A6-9905-707CB35C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7"/>
          </a:solidFill>
          <a:ln xmlns:a="http://schemas.openxmlformats.org/drawingml/2006/main" w="952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FA358-5094-4A43-84B5-3CCFD9E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9CCFC-7A12-4E04-B3FB-F199654E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Human Checkpoint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6FD068-BA8D-44D9-82AC-E86E5142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高风险审批 / 补充信息 / 驳回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153E80-C01C-43B9-B060-77F157DA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718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A2FF47-BB63-48C6-B0C5-38A3F3B6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28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50FD42-AA8F-4DB1-B124-6AECAF57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6004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D95767-C840-43DD-95BB-71D3F56E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57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864EE2-C2AB-42BA-9693-9426AC8D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291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91FADD-EFC0-4B6C-9D5D-3822EC9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86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89D9A1-AFF5-4CAE-A0DB-672A8BC1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8577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96E55E-2F63-47B9-837E-AB8B677D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91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A15C0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A15C07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4139F4-4368-4EB8-8D32-765B4CDC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B5237E-7675-4766-8151-468D5CC0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A7BDF1-7970-490A-A2A8-0EC75BE8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432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Orchestrator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F21043-4624-442D-B362-3DD86282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71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Workflow Controller / Manager Agent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8744C4-2662-4AE6-8355-DA7D124C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7D5E21-67D0-4937-97F2-CA827C93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24E457-589F-465C-BFAE-1D3A4EB4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162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专用 Agent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66C708-D819-4AAC-8E50-C0A5B260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433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规划 / 写作 / 分析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03EE41-EDBC-47D8-A2AA-548E6AF8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3855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5619A8-B879-4983-A9B5-33BABA29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385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236383-E0CC-4962-8795-F28E3831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352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工具代理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DC6D60-C627-4EAF-BC3B-0B380930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4335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Browser / File / Repo / Terminal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9AC343-8D72-4341-8716-B7713F06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577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F5CF65-0AF0-4D7F-9EDE-4ECEC831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5770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884D86-6024-40CB-ADD2-9670F3FA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1162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rPr>
              <a:t>Evaluator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F02300-2696-494A-BFF2-F3453E72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产物与成功标准校验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33A45F-6F49-402E-A4AB-D8F28EC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FC350F-4BDE-44C3-9400-72AA4212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8785BF-7816-4EF4-8D67-133C93DA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33900"/>
            <a:ext cx="1352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4B728A-4E1F-4E7F-B47D-109ED599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沙盒 / worktree / 读写分级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DABBA0-12AC-42C7-9DB3-3293433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0040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810552-3722-4D1C-916F-9714390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05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267327-D90F-4CD9-8319-AF8593AC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3015A4-6AB0-438F-90E9-958CD75A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C34EB4-E4D2-4251-9C7E-951B17BD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148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010C41-B943-4A0F-8435-3DF517EF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32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452EEF-BAB2-4872-9935-329927BE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1148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02C4D9-1B40-48A2-AA09-C8B3DC56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24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A0A6E6-4A1E-46C5-8025-FD3A2045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0535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111087-5809-42F3-A3E6-37707E8F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10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9C0F7A-7277-4BFE-A729-C7AFE46B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25BB84-FC33-4108-9370-549DD9EC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5F45EE5-B960-49E1-A583-E8F04108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2057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Trace Bus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B18E20-C946-4162-96EC-88BC30C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33700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run / handoff / tool / guardrail span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2C774A-BF20-4259-88DA-E0C849D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8AF18B-E68F-41AC-A428-D093AE66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D84621-59C4-478F-BD0D-E32A150E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2057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Evidence Store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B6D9685-36FF-4BCD-A60E-E1276482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artifact / diff / test_result / tool_log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C591A74-3F63-4A77-9161-4F42877B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E5E9FF-56EA-4638-91A2-262F18DA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E983D1-1397-40FE-BF5E-185DAB52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2057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5C0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15C07"/>
                </a:solidFill>
                <a:latin typeface="PingFang SC"/>
                <a:ea typeface="PingFang SC"/>
                <a:cs typeface="PingFang SC"/>
              </a:rPr>
              <a:t>Monitoring / SLO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61537A3-1C42-4E48-9599-B2AFCD8F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pending age / timeout / failover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60AB583-503D-4F98-ADDD-D0343A34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ACDE70A-B0CB-4277-9B86-9D256E0D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19822E9-83BF-483A-897C-786A3E3E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2057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Final Response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392467-A3B5-4F6C-AA10-121A5253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34000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回奏 / 产物归档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9C315A4-2614-48B7-8631-9D2EF177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010114B-3CAF-41F3-BBE1-948C044C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95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0CBD2E-20C0-4D26-B616-48D46133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0722FE1-0296-4C43-B76F-F3DF5277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95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641AACA-8771-4191-80EB-C6892E20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E541E9F-F0E5-485D-8478-3D4101AD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958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v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F65C01-8F5A-4D16-A423-E0F54779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386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C88FAC-BF91-4686-A84E-8C1512C2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1905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964E006-F7E8-4503-AF4E-4A0B9BE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6DA174D-C12B-4F24-9F3A-A4EB6576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C976C4-8873-414D-B248-E787D57E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1257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低/中风险进入编排器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D44CA0-9D4C-4638-856D-F4C74134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9582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1348B2E-B2A7-461D-9C64-80FC01B1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00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7882A13-430E-409B-A53F-490DCAE3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95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运行状态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8BE815-0341-4B2A-A888-69D6C47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74AF031-DAF0-43D8-99A9-47CC447F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29250"/>
            <a:ext cx="2933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rPr>
              <a:t>Evals / Regression Set：失败样本回流到编排器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44A3B13-9591-4658-975F-A8CE5237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下一步问题：何时不该上多 Agent？先从复杂度阈值说起。</a:t>
            </a:r>
          </a:p>
        </p:txBody>
      </p:sp>
      <p:sp xmlns:a="http://schemas.openxmlformats.org/drawingml/2006/main">
        <p:nvSpPr>
          <p:cNvPr id="106" name="Rounded Rectangle 105"/>
          <p:cNvSpPr/>
          <p:nvPr/>
        </p:nvSpPr>
        <p:spPr>
          <a:xfrm>
            <a:off x="7818120" y="822960"/>
            <a:ext cx="3977639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bIns="36576"/>
          <a:lstStyle/>
          <a:p>
            <a:pPr algn="ctr"/>
            <a:r>
              <a:rPr sz="900" b="0">
                <a:solidFill>
                  <a:srgbClr val="475569"/>
                </a:solidFill>
                <a:latin typeface="PingFang SC"/>
              </a:rPr>
              <a:t>状态说明：已跑通 / 原型中 / 路线图；颜色表示职责，不表示成熟度。</a:t>
            </a:r>
          </a:p>
        </p:txBody>
      </p:sp>
    </p:spTree>
    <p:extLst>
      <p:ext uri="{BB962C8B-B14F-4D97-AF65-F5344CB8AC3E}">
        <p14:creationId xmlns:p14="http://schemas.microsoft.com/office/powerpoint/2010/main" val="12922143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91DF4-23DE-4415-9950-ED8764BB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DE9DD-FB9D-40B7-9183-7C5DA8FB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063DF-FB60-4568-86C8-2ECD7161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085BF-D6CD-4780-B28B-3E4B4AB6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41C6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941C6"/>
                </a:solidFill>
                <a:latin typeface="Menlo"/>
                <a:ea typeface="Menlo"/>
                <a:cs typeface="Menlo"/>
              </a:rPr>
              <a:t>PART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BA86A-0551-4DB4-8A8E-99159A37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B3B1C-DDAF-4208-99DF-2BDEA397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放到主流 Agent 架构里看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C38FD-270F-44DE-B384-7F4CE7EE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把三省六部放回主流 Agent 工程脉络里看。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8FC6F-42A9-4372-823C-5F5293D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941C6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6941C6">
                    <a:alpha val="9412"/>
                  </a:srgbClr>
                </a:solidFill>
                <a:latin typeface="Menlo"/>
                <a:ea typeface="Menlo"/>
                <a:cs typeface="Menlo"/>
              </a:rPr>
              <a:t>PART</a:t>
            </a:r>
          </a:p>
          <a:p xmlns:a="http://schemas.openxmlformats.org/drawingml/2006/main">
            <a:pPr algn="ctr">
              <a:defRPr sz="4350" b="1">
                <a:solidFill>
                  <a:srgbClr val="6941C6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6941C6">
                    <a:alpha val="9412"/>
                  </a:srgbClr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025D2-916D-48EC-9B62-B95DFFD3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86D89-73E7-4524-AE04-F739012B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DBD94-B065-4B72-BC5A-CCC2D7AB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16 / 35</a:t>
            </a:r>
          </a:p>
        </p:txBody>
      </p:sp>
    </p:spTree>
    <p:extLst>
      <p:ext uri="{BB962C8B-B14F-4D97-AF65-F5344CB8AC3E}">
        <p14:creationId xmlns:p14="http://schemas.microsoft.com/office/powerpoint/2010/main" val="1319456746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2743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00" b="1">
                <a:solidFill>
                  <a:srgbClr val="C81E1E"/>
                </a:solidFill>
                <a:latin typeface="PingFang SC"/>
              </a:rPr>
              <a:t>ECOSYSTEM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78992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ingFang SC"/>
              </a:rPr>
              <a:t>生态位：不是替代协议，而是补任务控制面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7899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PingFang SC"/>
              </a:rPr>
              <a:t>MCP / A2A / Agents SDK / LangGraph 解决不同层的问题；三省六部把它们收敛到任务治理视角。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65960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PingFang SC"/>
              </a:rPr>
              <a:t>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04288"/>
            <a:ext cx="30175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模型连接工具、数据和外部系统的标准接口。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定位：工具/上下文连接层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1828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1828800"/>
            <a:ext cx="54864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1965960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PingFang SC"/>
              </a:rPr>
              <a:t>A2A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2304288"/>
            <a:ext cx="30175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Agent 之间发现、通信和协作的开放协议。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定位：Agent 互操作层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828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828800"/>
            <a:ext cx="54864" cy="1234440"/>
          </a:xfrm>
          <a:prstGeom prst="rect">
            <a:avLst/>
          </a:prstGeom>
          <a:solidFill>
            <a:srgbClr val="694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965960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6941C6"/>
                </a:solidFill>
                <a:latin typeface="PingFang SC"/>
              </a:rPr>
              <a:t>Agents SDK / LangGraph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304288"/>
            <a:ext cx="30175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Tracing、guardrails、handoff、HITL、persistence 等工程基建。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定位：编排与运行层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747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74720"/>
            <a:ext cx="54864" cy="1234440"/>
          </a:xfrm>
          <a:prstGeom prst="rect">
            <a:avLst/>
          </a:prstGeom>
          <a:solidFill>
            <a:srgbClr val="A15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611879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A15C07"/>
                </a:solidFill>
                <a:latin typeface="PingFang SC"/>
              </a:rPr>
              <a:t>OpenCode / 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950208"/>
            <a:ext cx="30175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以 coding/runtime 为主的执行 surface。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定位：执行面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7" y="34747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7" y="3474720"/>
            <a:ext cx="54864" cy="12344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5" y="3611879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C81E1E"/>
                </a:solidFill>
                <a:latin typeface="PingFang SC"/>
              </a:rPr>
              <a:t>三省六部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5" y="3950208"/>
            <a:ext cx="30175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RunSpec、Policy、Queue、Trace、Evidence、Takeover。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定位：任务控制面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40680"/>
            <a:ext cx="1088136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F172A"/>
                </a:solidFill>
                <a:latin typeface="PingFang SC"/>
              </a:rPr>
              <a:t>一句话：MCP 接工具，A2A 接 Agent，三省六部关心“这个任务能不能被组织放心交出去”。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三省六部 · Agent Workbench 工程化复盘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A65E2-4961-4CD6-9B7B-5F330301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B2AEC-6E9B-4137-9937-B962875A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00A25-2B3E-41C5-8CEB-7EC6EEB0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D0881-13CD-45B9-B870-30CADEE8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941C6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6941C6"/>
                </a:solidFill>
                <a:latin typeface="Menlo"/>
                <a:ea typeface="Menlo"/>
                <a:cs typeface="Menlo"/>
              </a:rPr>
              <a:t>SKILL OR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11627-90ED-4932-A4B6-E1A878AD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9C924-644C-42F9-9D97-633F54B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18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839FD-2E74-42FF-B7F7-299AA283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Agent Skills 和 Multi-Agent 是一条升级阶梯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15F42-226C-4FA7-ADE9-5015F34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优先采用更简单的机制；当职责分离、审批和证据链成为刚需时，再进入多 Agent 治理。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FEBBB-6F18-4E6D-A701-FED36E38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21112-1FBB-42EB-9E2B-DAC03BB9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8E0E5-6C3A-4679-B4CF-C7DBCCA0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单一工具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9B9DC-24F8-4725-8158-AA06018D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函数/脚本能解决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EB3D9-B92A-4EF5-A18B-A2CB05E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147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8A94A6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8A94A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48836-30F1-4EC1-9FD0-CE755A8F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0510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0016A-3A68-41A6-833A-C174E72A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40EB1-FE41-4FFA-832F-CC3A48FB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领域技能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F9B24-C51D-4665-9736-49C05749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固定流程可复用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EFBEA-77A6-4BE1-A580-A81ABBC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8A94A6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8A94A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D27F8-4EB1-43FF-9406-96C702C9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AFDA2-BE8B-4D71-9654-60FAFDE6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7A4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27A48"/>
                </a:solidFill>
                <a:latin typeface="Menlo"/>
                <a:ea typeface="Menlo"/>
                <a:cs typeface="Menlo"/>
              </a:rPr>
              <a:t>Router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E26B6-4B13-4443-B038-EB9271D9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766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能力路由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7CE58-91E4-488C-B528-34760F4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按意图选择工具或技能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8C849-5BC0-47C6-825B-5F3807D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8A94A6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8A94A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738C0-1F53-4BBA-9BD0-C94D99F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618BD-8A7F-4D30-BF47-4BF54B19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146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15C0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A15C07"/>
                </a:solidFill>
                <a:latin typeface="Menlo"/>
                <a:ea typeface="Menlo"/>
                <a:cs typeface="Menlo"/>
              </a:rPr>
              <a:t>Single Agent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1F38E-3696-45C4-8833-A260D9B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766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 Agent 循环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C741B-E116-4E6B-B1FB-ADEDF643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模型动态选择工具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8BEDE-CD09-47A9-9404-A55FAC8C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8A94A6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8A94A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E762E-6CC3-441C-BC59-CBBB8E79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1F98F-9D2E-48AE-9B92-C01718E6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146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941C6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941C6"/>
                </a:solidFill>
                <a:latin typeface="Menlo"/>
                <a:ea typeface="Menlo"/>
                <a:cs typeface="Menlo"/>
              </a:rPr>
              <a:t>Team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668F1B-F306-45CE-AED1-35E44069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766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多 Agent 治理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D70DD6-1207-4F5F-A9F6-28F46BA1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需要制衡、审批、留证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3E3AF1-A489-4CA7-8343-1C46CDB8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05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605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三省六部不是鼓励“Agent 越多越好”，而是给复杂任务一个可降级、可接管、可审计的组织框架。</a:t>
            </a:r>
          </a:p>
        </p:txBody>
      </p:sp>
      <p:sp xmlns:a="http://schemas.openxmlformats.org/drawingml/2006/main">
        <p:nvSpPr>
          <p:cNvPr id="34" name="Rounded Rectangle 33"/>
          <p:cNvSpPr/>
          <p:nvPr/>
        </p:nvSpPr>
        <p:spPr>
          <a:xfrm>
            <a:off x="9646920" y="320040"/>
            <a:ext cx="1508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475569"/>
                </a:solidFill>
                <a:latin typeface="PingFang SC"/>
              </a:rPr>
              <a:t>可选深入</a:t>
            </a:r>
          </a:p>
        </p:txBody>
      </p:sp>
    </p:spTree>
    <p:extLst>
      <p:ext uri="{BB962C8B-B14F-4D97-AF65-F5344CB8AC3E}">
        <p14:creationId xmlns:p14="http://schemas.microsoft.com/office/powerpoint/2010/main" val="200163395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643CE-1F12-48A4-A834-A7E60FEA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B5ABE-3643-41B7-B880-EAC8A305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E62CB-6032-425A-A2B1-86B51713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38484-386F-4F47-8283-DA73C4A7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941C6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6941C6"/>
                </a:solidFill>
                <a:latin typeface="Menlo"/>
                <a:ea typeface="Menlo"/>
                <a:cs typeface="Menlo"/>
              </a:rPr>
              <a:t>MULTI-AGENT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5D9AE-AEAB-41E7-A046-143136B2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3A0AF-EA1D-4CCD-A0B2-C59E7075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19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74E84-1A4A-4577-80CB-3B2B9E8B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把多 Agent 复杂度放回工程坐标系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36128-1B80-463F-BE8E-7E0F733F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企业落地时，问题通常不是“能不能多 Agent”，而是责任、权限和证据怎么收敛。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AAA5F-86B0-4C8B-9B91-A63E9F61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D9C6F-DD2B-418F-9F05-57EE0293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单点 Supervisor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6FB3E-4D6F-426B-A466-636E22E6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所有 Agent 向一个主控负责，简单可控；但主控容易成为瓶颈，复杂任务会排队。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D0883-D636-4B32-B3DD-13ECFB5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000D9-BCBE-40C1-8938-BCD7C9F0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05050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网络型 Mesh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7ABDC-2CE9-4E2A-924E-50517DB4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Agent 之间可以互相调用，灵活；但权限、循环、追责和调试成本会快速上升。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EB1E1-0604-4C39-949B-C4317585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99785-C096-46BF-B1C3-B85DBF3F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05050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Workflow / DAG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4D9A0-BD83-4F42-B946-12A0EF51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状态机清晰，现代图式工作流也支持分支、循环、HITL 和调试；但开放任务需要额外治理对象。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429AC-2536-44CB-8BBB-9DF01F5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577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69DDD-EEDD-4A5B-BDC1-1D12B809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6941C6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6941C6"/>
                </a:solidFill>
                <a:latin typeface="PingFang SC"/>
                <a:ea typeface="PingFang SC"/>
                <a:cs typeface="PingFang SC"/>
              </a:rPr>
              <a:t>三省六部的选择：治理层保持星型收敛，执行层按任务临时展开，并受工具清单、handoff 白名单和停止条件约束。</a:t>
            </a:r>
          </a:p>
        </p:txBody>
      </p:sp>
      <p:sp xmlns:a="http://schemas.openxmlformats.org/drawingml/2006/main">
        <p:nvSpPr>
          <p:cNvPr id="20" name="Rounded Rectangle 19"/>
          <p:cNvSpPr/>
          <p:nvPr/>
        </p:nvSpPr>
        <p:spPr>
          <a:xfrm>
            <a:off x="9646920" y="320040"/>
            <a:ext cx="1508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475569"/>
                </a:solidFill>
                <a:latin typeface="PingFang SC"/>
              </a:rPr>
              <a:t>可选深入</a:t>
            </a:r>
          </a:p>
        </p:txBody>
      </p:sp>
    </p:spTree>
    <p:extLst>
      <p:ext uri="{BB962C8B-B14F-4D97-AF65-F5344CB8AC3E}">
        <p14:creationId xmlns:p14="http://schemas.microsoft.com/office/powerpoint/2010/main" val="134953453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DD620-7C8A-452C-8C65-C4A413BE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62CB6-77F3-42B6-BD72-95192A81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8EAD2-8E03-4DED-94A8-B031CAE8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6EECD-BDDE-41F7-AC95-90F4C9D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941C6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6941C6"/>
                </a:solidFill>
                <a:latin typeface="Menlo"/>
                <a:ea typeface="Menlo"/>
                <a:cs typeface="Menlo"/>
              </a:rPr>
              <a:t>HYBRID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1AAA4-4F65-4FBB-97EB-EB12E094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ABBD7-230C-4E4F-83AA-55EFA59A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20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29478-1200-4B78-8E4E-215789C4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三省六部：治理星型 + 执行网络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C31F0-6832-4700-8254-D1860967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治理负责收敛，执行负责灵活；灵活不等于全局自由互调。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4986F-C8FC-4B7E-B3D9-81015339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476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ADB01-B91E-48B1-B959-8C3E1D69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55" b="1">
                <a:solidFill>
                  <a:srgbClr val="6941C6"/>
                </a:solidFill>
                <a:latin typeface="PingFang SC"/>
                <a:ea typeface="PingFang SC"/>
                <a:cs typeface="PingFang SC"/>
              </a:defRPr>
            </a:pPr>
            <a:r>
              <a:rPr sz="1755" b="1">
                <a:solidFill>
                  <a:srgbClr val="6941C6"/>
                </a:solidFill>
                <a:latin typeface="PingFang SC"/>
                <a:ea typeface="PingFang SC"/>
                <a:cs typeface="PingFang SC"/>
              </a:rPr>
              <a:t>治理星型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B345C-F825-4C64-A358-7833805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66990-ABB9-4665-8533-DA7E8650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太子分拣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F09B9-DA0D-4650-8A5B-B3028D8F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3EE56-338B-4896-8275-8B478914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中书成案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616C9-E6FA-4658-83F9-D1718354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5A089-1DDB-4769-AC9C-70FAC27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门下审议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8C0F8-B981-4FCE-920F-EDAD8827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729AB-6EB9-4FEC-8324-A364B8CF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767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尚书派发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4DF36-799E-445B-AC72-CD499865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4476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02146-9B5E-4EFF-AC19-4D0FE299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5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75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执行网络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1DBDC-DF76-4502-A12B-8E634795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C66E2-C7E1-49BE-9934-254ED2ED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六部按能力执行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D3D6F-E160-4EAD-923A-5BBFEFB9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07BBC-B33E-4238-B87F-CE16016C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调用工具/文档/网页/命令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5B297-D16D-49A9-8C74-788A319C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D976D-EA9C-4712-9E64-B5E4EEAE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528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失败可重试或降级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B99CBD-BE81-42B1-8AFC-7C87FDE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2C199-942E-4857-8ACA-E5D380D6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产物回到同一任务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739DE-191E-49A8-B618-F1633C63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关键约束：执行可以展开，但责任必须收敛。</a:t>
            </a:r>
          </a:p>
        </p:txBody>
      </p:sp>
      <p:sp xmlns:a="http://schemas.openxmlformats.org/drawingml/2006/main">
        <p:nvSpPr>
          <p:cNvPr id="30" name="Rounded Rectangle 29"/>
          <p:cNvSpPr/>
          <p:nvPr/>
        </p:nvSpPr>
        <p:spPr>
          <a:xfrm>
            <a:off x="9646920" y="320040"/>
            <a:ext cx="1508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475569"/>
                </a:solidFill>
                <a:latin typeface="PingFang SC"/>
              </a:rPr>
              <a:t>可选深入</a:t>
            </a:r>
          </a:p>
        </p:txBody>
      </p:sp>
    </p:spTree>
    <p:extLst>
      <p:ext uri="{BB962C8B-B14F-4D97-AF65-F5344CB8AC3E}">
        <p14:creationId xmlns:p14="http://schemas.microsoft.com/office/powerpoint/2010/main" val="37087515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AE4E3-8702-44C3-9B02-BB487B9B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A8207-32B3-4803-8EE8-2A510861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BF8C2-5C4A-4EE9-9FEC-DD28B7E8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0E90C-6A14-4DA1-A198-E9BEAEBC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941C6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6941C6"/>
                </a:solidFill>
                <a:latin typeface="Menlo"/>
                <a:ea typeface="Menlo"/>
                <a:cs typeface="Menlo"/>
              </a:rPr>
              <a:t>FOUR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F9A43-012B-44C5-B079-2ADE21FC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969A0-03F7-45E1-A381-2513BA2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21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DBF81-3D6A-4BB0-B155-F1D4490A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把面试题换成工程题：四个问题必须回答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837DA-5569-4DB2-AFD0-FBBFE75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这些问题能帮助解释三省六部为什么不是单纯的角色扮演。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DBAEC-90F6-4EDE-B162-2AC91571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993A2-84A0-48F0-A20B-67E5C916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241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BBB22-C4F8-46BF-AF9F-115339E5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098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Workflow 和 Agent 的区别？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97DF8-7426-4985-9B49-5ED89AFD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中书省把目标编译成 RunSpec，让流程有状态，而不是每步都交给模型自由发挥。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49B35-E792-40AE-B682-D724C7C6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6735B-E0A1-4F1C-8425-895917FF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D570B-099F-4A94-B81E-7C7BC693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28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能不能把 30 个工具全给 Agent？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170BD-76E2-4916-9AB1-EBE6840D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575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门下省先做能力和风险审议；工具不是越多越好，权限边界必须先出现。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42FD4-3F8F-405F-8DBA-4ABB7BBE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941C6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6941C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35E11-57BE-4938-8522-C80D56AF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91DB7-0B2B-4D31-8E90-8DBAB24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481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Multi-Agent 怎么连接？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DE54C-248A-4E29-83A5-F1ED8E60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7667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治理链路保持星型收敛，执行链路按任务展开，避免全局互相调用失控。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DB906-78F2-46C2-8EE4-1A6722C3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27A48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027A4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315F1-B4D3-4F99-A9CA-CE8C5E2E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815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ECFD9-F716-4FE6-B5B8-947DC1CC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672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如何确认 Agent 真的完成？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CEC05-FAC0-4A1A-AA85-4BDA5BAE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958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看 success criteria、产物、工具证据、测试结果和停止原因，不看“它说完成了”。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FDC80-5C17-438F-9A51-B7267849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5785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05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605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这四个问题串起来，就是三省六部从“有趣隐喻”走向“工程控制面”的原因。</a:t>
            </a:r>
          </a:p>
        </p:txBody>
      </p:sp>
      <p:sp xmlns:a="http://schemas.openxmlformats.org/drawingml/2006/main">
        <p:nvSpPr>
          <p:cNvPr id="26" name="Rounded Rectangle 25"/>
          <p:cNvSpPr/>
          <p:nvPr/>
        </p:nvSpPr>
        <p:spPr>
          <a:xfrm>
            <a:off x="9646920" y="320040"/>
            <a:ext cx="1508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475569"/>
                </a:solidFill>
                <a:latin typeface="PingFang SC"/>
              </a:rPr>
              <a:t>可选深入</a:t>
            </a:r>
          </a:p>
        </p:txBody>
      </p:sp>
    </p:spTree>
    <p:extLst>
      <p:ext uri="{BB962C8B-B14F-4D97-AF65-F5344CB8AC3E}">
        <p14:creationId xmlns:p14="http://schemas.microsoft.com/office/powerpoint/2010/main" val="122123295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4A5616-B6AC-4676-92B1-609F7748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5F5AC-1FB1-4A6F-ABFC-7B98164A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6AC69-5C42-405B-A037-98CDC41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82546-4D71-4A30-8335-BC612660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5C0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A15C07"/>
                </a:solidFill>
                <a:latin typeface="Menlo"/>
                <a:ea typeface="Menlo"/>
                <a:cs typeface="Menlo"/>
              </a:rPr>
              <a:t>PART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F2A71-1624-4923-B869-EA044B50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81C82-D802-40F2-9DC4-2D05F494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企业真正担心的不是模型不聪明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88359-4E3C-4075-B536-F8950112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而是它开始操作真实资源后，需要边界、证据和接管方式。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EF517-9A71-4C47-9001-31D132F7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15C07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A15C07">
                    <a:alpha val="9412"/>
                  </a:srgbClr>
                </a:solidFill>
                <a:latin typeface="Menlo"/>
                <a:ea typeface="Menlo"/>
                <a:cs typeface="Menlo"/>
              </a:rPr>
              <a:t>PART</a:t>
            </a:r>
          </a:p>
          <a:p xmlns:a="http://schemas.openxmlformats.org/drawingml/2006/main">
            <a:pPr algn="ctr">
              <a:defRPr sz="4350" b="1">
                <a:solidFill>
                  <a:srgbClr val="A15C07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A15C07">
                    <a:alpha val="9412"/>
                  </a:srgbClr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14857-C188-4CD8-91D7-4DF89B3B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5BE7B-CD53-4A62-9E85-92EFA875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DE26E-EEA5-44ED-AFFC-9C6A162B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22 / 35</a:t>
            </a:r>
          </a:p>
        </p:txBody>
      </p:sp>
    </p:spTree>
    <p:extLst>
      <p:ext uri="{BB962C8B-B14F-4D97-AF65-F5344CB8AC3E}">
        <p14:creationId xmlns:p14="http://schemas.microsoft.com/office/powerpoint/2010/main" val="104131072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43A208-EAB4-48CA-8C63-F2F54A14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6B26C-787E-43EF-9029-D6BB34B8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036C7-DF91-4CE8-A277-048AD097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C040C-1034-4E39-854E-F2312EB9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A15C0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A15C07"/>
                </a:solidFill>
                <a:latin typeface="Menlo"/>
                <a:ea typeface="Menlo"/>
                <a:cs typeface="Menlo"/>
              </a:rPr>
              <a:t>ENTERPRISE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B3076-F0FE-43B1-A205-2AD4585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78360-5C29-460F-9008-C4AF2FE0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23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35AFB-D109-4850-9087-A7CAEBDC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为什么很多 IT 部门不敢让 Agent 自动执行任务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5CCFA-5BF9-4DDC-A6E1-8CCEBB89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从企业视角看，Agent 的核心风险不是回答错，而是带着权限做错。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9794C-9AA6-401B-A77D-D784660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2B52D-5224-4007-968C-ADCF0D7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8EB59-7CCD-4A92-9EDA-77B751CF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权限越界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0BBDF-38BE-46EC-8419-6771B14F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shell、浏览器、文件、文档混在一次任务里，很容易超过原始意图。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AD5C9-5FC4-4055-88B4-DC159BE1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4C0C8-6DBB-479C-8AC4-CF46F6AC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BE153-8C28-4309-AF02-0327D246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C5075-0581-4982-BB29-7A061F15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出了问题只看到失败结果，却追不到模型、工具、参数和上下文。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FE72A-426D-474E-9954-7A895A67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74CA4-DE5B-4BB0-8A0A-4276D9A8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AE542-D6B7-43DD-B0F1-95F5707B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回滚困难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5A3BF-724A-428C-A4D7-2884C3AE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代码、文档、数据、网页操作不是天然可撤销，需要隔离和 patch。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3E8AE-A372-439A-A240-8939F968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652DE-449F-4F77-B560-9A07B49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DB74B-0AAE-4502-A2F4-54CDDE59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质量不可运营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429E6-537F-4675-8612-5E4418CD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没有 SLO 和失败样本，卡顿、超时、降级就只能靠体感判断。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AA91F-4D3A-43DE-A49E-4B1047C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21652-F577-4623-AF4F-234D8EB6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8769E-DDFD-4DCF-9318-4363CE4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数据与注入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CF0A4-E9B1-4B2F-BF91-894FBDA6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trace / tool I/O 可能含 PII、token，网页和文档也可能诱导越权。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5F648-F729-4CA2-9495-6C8799C0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434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F076F3-3264-48A0-8FCA-0B8E40E6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434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62BD31-7EDB-4F9C-833D-0EA2D840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责任不清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125B58-A733-4DAA-A39B-D1513944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用户、模型、工具、平台之间没有证据边界，就很难放心放权。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90118D-ADCE-4443-AF8E-DAEE1063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76900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05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605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对应解决路径：Policy 先拦，Isolation 先隔离，Evidence 负责复盘。</a:t>
            </a:r>
          </a:p>
        </p:txBody>
      </p:sp>
    </p:spTree>
    <p:extLst>
      <p:ext uri="{BB962C8B-B14F-4D97-AF65-F5344CB8AC3E}">
        <p14:creationId xmlns:p14="http://schemas.microsoft.com/office/powerpoint/2010/main" val="67294355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68A26-68A9-4256-966F-05E31BC5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0D8BD-A96C-4A17-98AD-BBD86D87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5A506-7B3A-4D39-A718-4AEDBF8C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33EDD-47F1-4967-B409-815FD601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A15C0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A15C07"/>
                </a:solidFill>
                <a:latin typeface="Menlo"/>
                <a:ea typeface="Menlo"/>
                <a:cs typeface="Menlo"/>
              </a:rPr>
              <a:t>POLICY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EAE14-A9E3-4AC6-8233-4B781761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5C0E1-41F6-4A8C-A78C-4B00A0B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24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AA177-9B78-464E-A49A-F51E0EAE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Policy Gate：权限不应该只写在 Prompt 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53A94-79B8-42B2-A237-90C22068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我理解的企业级 Agent，至少要把工具权限、审批和拦截放到执行层。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B400A-2D01-4752-B813-9B93AE96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BCFC4-DEFF-400B-BED2-EFA66375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95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1333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E32A7-74B4-4F68-81AB-41F6B3BF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622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910AC-287F-4D9D-8200-47A1511C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能力识别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6A2C9-0CE6-4B55-BB7C-70961DB1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909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需要哪些工具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1DC0C-FADD-45F8-A14B-B115316B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895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F2292-4A9B-48A9-A6DF-7A5F375B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9622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CB900-3935-4181-BE12-B5B65465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3333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风险分级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9B452-8568-4DFE-B7BC-339E648C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35909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低/中/高风险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A5159-121E-47DA-B47B-51891290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95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A9CD5-1DFA-474F-80E2-7326B516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A48B1-7C4F-432D-B03C-1C8AB892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33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Policy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09E1B-0FAE-456D-8A08-A713B227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909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自动/审议/审批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A3E00-1B94-43F7-91F7-16231B63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513" y="2895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9D37D-9719-4A17-B63C-F5376D2D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29622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42875-70DA-43A0-A06C-57770D82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3333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执行约束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FAF2FB-293D-4FEA-B053-0962E918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488" y="35909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只读/隔离/Patch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7081D-C944-4916-8DAF-784C880B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895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C4D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EC7A0-2870-466B-B4B6-D30F8D25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622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51EB6-DCF8-4CC7-8DD2-014F73B6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证据归档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C82E4A-E5DE-4FEA-BF9F-DC007E49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909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事件和产物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FAB726-EBA8-4903-A3DB-CEAAEDD6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24350"/>
            <a:ext cx="7505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26E31-AB03-45AC-BF4B-5C34E2DE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33900"/>
            <a:ext cx="701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风险识别 = 能力风险 + 危险词 + 运行模式；执行约束 = capability token / sandbox / allowlist / scope / expiry。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506470-A360-4571-B039-0D40C519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32120"/>
            <a:ext cx="781050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172A"/>
                </a:solidFill>
                <a:latin typeface="PingFang SC"/>
              </a:rPr>
              <a:t>门下省的工程意义：在危险动作发生前，让边界、审批和证据要求显性化。</a:t>
            </a:r>
          </a:p>
        </p:txBody>
      </p:sp>
      <p:sp xmlns:a="http://schemas.openxmlformats.org/drawingml/2006/main">
        <p:nvSpPr>
          <p:cNvPr id="33" name="Rounded Rectangle 32"/>
          <p:cNvSpPr/>
          <p:nvPr/>
        </p:nvSpPr>
        <p:spPr>
          <a:xfrm>
            <a:off x="2148840" y="4919472"/>
            <a:ext cx="7909560" cy="384048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3970">
            <a:solidFill>
              <a:srgbClr val="A15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80" b="1">
                <a:solidFill>
                  <a:srgbClr val="C81E1E"/>
                </a:solidFill>
                <a:latin typeface="PingFang SC"/>
              </a:rPr>
              <a:t>关键约束：RunSpec 是输入，不是唯一裁判；Runtime 前仍按 capability / resource / action 二次校验，风险取高。</a:t>
            </a:r>
          </a:p>
        </p:txBody>
      </p:sp>
    </p:spTree>
    <p:extLst>
      <p:ext uri="{BB962C8B-B14F-4D97-AF65-F5344CB8AC3E}">
        <p14:creationId xmlns:p14="http://schemas.microsoft.com/office/powerpoint/2010/main" val="130032632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FD3FF-717D-422D-B919-F6F178C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64B3F-4727-437E-A151-C3BB5C0A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97F32-7E48-4B75-8A09-748F867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1DEB-4006-4D92-91DB-0B432E74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A15C07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A15C07"/>
                </a:solidFill>
                <a:latin typeface="Menlo"/>
                <a:ea typeface="Menlo"/>
                <a:cs typeface="Menlo"/>
              </a:rPr>
              <a:t>ISOLATION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1334-DB0E-40E3-AA68-FE1FF19D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5F2B-1AA6-4612-823F-13DA20C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25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EE70F-2748-4217-A869-95A51D81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隔离等级决定 Agent 可以走到哪一步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5F295-098A-467F-B10D-05FB5281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L0-L3 是风险等级，不是能力等级；越接近真实资源，越需要隔离、审批和可回滚。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AC47A-E7C4-4EAF-86A1-73213DCC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1828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076F5-D9B1-4266-830B-AA9926C6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L0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9410F-2E51-4D81-9D44-6AD48D3A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2D86A-9381-4A9C-BB03-FFAA1187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问答、日志分析、资料总结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9321E-85CC-4BDC-931C-A946669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不写入文件，只产出报告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F3D66-8A91-4503-8F5C-238F9CDC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051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E2331-6D9B-4944-B1D9-4DA98D8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38CA2-AB6E-45FC-95E9-FD0F110A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1828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9267C-1B64-4367-8D4A-7BAF3B47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7A48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027A48"/>
                </a:solidFill>
                <a:latin typeface="Menlo"/>
                <a:ea typeface="Menlo"/>
                <a:cs typeface="Menlo"/>
              </a:rPr>
              <a:t>L1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AB2CE-8C2C-40B6-B4EA-AB9A4F58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产物可审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C87F1-DAB8-4DF3-884A-C3E89074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PPT、Word、Markdown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9F1EF-51C4-4A3A-BCD7-0A7430DA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生成到 outputs，人工查看后使用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481A3-554E-46AF-B2E7-C950B857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766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45D2F-C305-47FD-A7FE-5F6B2E4B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ECD40-F34B-454B-B280-DE0C2B68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828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DC0A1-1C7C-461E-9C14-70BE39D9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5C07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A15C07"/>
                </a:solidFill>
                <a:latin typeface="Menlo"/>
                <a:ea typeface="Menlo"/>
                <a:cs typeface="Menlo"/>
              </a:rPr>
              <a:t>L2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1456F-E822-4224-9167-86012231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Patch-first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037E0-325F-4B40-96C9-D5BF83A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代码小修、配置更新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6F237-4561-4771-8F22-0D2FDC10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529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独立 worktree，先审 patch 再合入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2C2DA-C926-441C-97DF-49A91E60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481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DE780-969A-4AC2-BAE3-9DDAFCF8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32C1F4-E3D3-4CFD-BC4A-EEC97E00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1828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A3C49-DFF0-4450-82A0-1B0FA95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L3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693E25-70E0-4B5E-A68D-F03891AC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86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0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审批执行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FDED25-D6CA-42E7-AA04-C01C08F9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删除、发布、凭证、生产命令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4FF88D-9024-4E1E-9280-A01541A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短期凭证、网络受限、全量审计 + 人工放行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335696-F33F-41AA-B84A-465F9EDA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05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605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越接近真实资源，越要从“相信模型”切换为“隔离执行 + 人工放行”。</a:t>
            </a:r>
          </a:p>
        </p:txBody>
      </p:sp>
    </p:spTree>
    <p:extLst>
      <p:ext uri="{BB962C8B-B14F-4D97-AF65-F5344CB8AC3E}">
        <p14:creationId xmlns:p14="http://schemas.microsoft.com/office/powerpoint/2010/main" val="8270163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16C62-AF15-40B3-B34B-0563325A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F4C0A-B246-419E-B993-8028897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DD60A-89C9-45C1-ABFE-DA8F3BD1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4A947-7ED3-4611-9BB4-94F7E20A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027A48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027A48"/>
                </a:solidFill>
                <a:latin typeface="Menlo"/>
                <a:ea typeface="Menlo"/>
                <a:cs typeface="Menlo"/>
              </a:rPr>
              <a:t>REAL RUN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AF348-7881-4E9A-B361-5113D149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5D491-418A-4670-84CC-8D7A40A2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26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463FF-9290-4B30-82E9-C0FF3A57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真实案例：一句需求先被编译成 RunSpec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831DA-EDCA-48C6-B762-A3BBE5FF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需求不是直接丢给模型，而是先进入意图识别、能力推断、风险分级和执行图预览。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7FAA4-40D7-4B4B-888D-975EFFA9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2c118112e40c4"/>
          <a:stretch xmlns:a="http://schemas.openxmlformats.org/drawingml/2006/main"/>
        </p:blipFill>
        <p:spPr>
          <a:xfrm xmlns:a="http://schemas.openxmlformats.org/drawingml/2006/main">
            <a:off x="1538478" y="2047875"/>
            <a:ext cx="5266944" cy="3657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B1E1-CA20-4496-8028-383BE0A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6972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真实运行截图：输入只读诊断需求后，系统生成 RunSpec Preview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DCC8F-C886-486D-B44F-21E11643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50197-D5E1-4232-8963-95D08C59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01 目标结构化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10FCA-5DB4-472D-901A-9EE04CF5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自然语言目标被拆成交付物、边界、优先级和能力集合。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2595F-B946-4B18-BEF0-059D29A2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9D3A5-19AB-4641-B1E6-8ECE3B8D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671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A15C0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A15C07"/>
                </a:solidFill>
                <a:latin typeface="PingFang SC"/>
                <a:ea typeface="PingFang SC"/>
                <a:cs typeface="PingFang SC"/>
              </a:rPr>
              <a:t>02 风险前置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1510B-BB9E-4D5F-9A5A-5BA8C1E4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读本地运行数据也会触发工具权限、隔离和审批判断。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8A52B-EB6A-4772-A581-2B2F76A4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2E23B-939E-4952-99EF-90A8F96C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672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 执行图可见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EED4A-F977-4AFE-B166-FC7CD1D7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执行前就能看到目标部门、能力数、工具权限和治理链路。</a:t>
            </a:r>
          </a:p>
        </p:txBody>
      </p:sp>
      <p:sp xmlns:a="http://schemas.openxmlformats.org/drawingml/2006/main">
        <p:nvSpPr>
          <p:cNvPr id="21" name="Rounded Rectangle 20"/>
          <p:cNvSpPr/>
          <p:nvPr/>
        </p:nvSpPr>
        <p:spPr>
          <a:xfrm>
            <a:off x="7269480" y="5596128"/>
            <a:ext cx="4069080" cy="2743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0160">
            <a:solidFill>
              <a:srgbClr val="02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l"/>
            <a:r>
              <a:rPr sz="1000" b="1">
                <a:solidFill>
                  <a:srgbClr val="0F172A"/>
                </a:solidFill>
                <a:latin typeface="PingFang SC"/>
              </a:rPr>
              <a:t>Case: JJC-20260611-003 · Trace: trc_20e8f5a46f5a4050 · Snapshot: 2026-06-11 · 本地开发环境单次快照</a:t>
            </a:r>
          </a:p>
        </p:txBody>
      </p:sp>
    </p:spTree>
    <p:extLst>
      <p:ext uri="{BB962C8B-B14F-4D97-AF65-F5344CB8AC3E}">
        <p14:creationId xmlns:p14="http://schemas.microsoft.com/office/powerpoint/2010/main" val="41865753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81645F-FF39-44BE-AD07-86DE8222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AA382-639A-4FEF-B2F2-2D3F36F0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208D0-D5A9-46EE-A94E-9855294D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1B780-7CBB-47DA-91D8-5802457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027A48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027A48"/>
                </a:solidFill>
                <a:latin typeface="Menlo"/>
                <a:ea typeface="Menlo"/>
                <a:cs typeface="Menlo"/>
              </a:rPr>
              <a:t>REAL RUN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1CFF6-F6DA-4C08-9BAB-A8556089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355D4-81D8-470E-9793-72B6226A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27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D5808-1AD3-4364-A57B-258BCD4B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案例二：任务、队列、责任部门同屏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B40D9-2DEA-4A0E-9896-0AFDC2CD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同一任务同时呈现 Worker、队列、治理链路、责任部门和关键数量。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5F268-353A-49F6-ADB3-1B05252E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524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2f07d91164430"/>
          <a:stretch xmlns:a="http://schemas.openxmlformats.org/drawingml/2006/main"/>
        </p:blipFill>
        <p:spPr>
          <a:xfrm xmlns:a="http://schemas.openxmlformats.org/drawingml/2006/main">
            <a:off x="1544193" y="1962150"/>
            <a:ext cx="5541264" cy="3848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946A9-3E7C-4E70-8C77-9850AF2C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7258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真实运行截图：JJC-20260611-003 进入旨意看板，队列和任务状态同屏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C1205-4553-45FF-BBDD-D5A55072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D19F2-8BDA-458C-928B-9EE2C3F5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27A48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027A48"/>
                </a:solidFill>
                <a:latin typeface="Menlo"/>
                <a:ea typeface="Menlo"/>
                <a:cs typeface="Menlo"/>
              </a:rPr>
              <a:t>心跳正常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FF3F9-FD5C-4B71-BAC4-AEEE1D36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C5CF4-64A9-4EDE-ABE6-19CE1668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C4E43-5C58-4DA1-BC88-01F75CF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15C07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A15C07"/>
                </a:solidFill>
                <a:latin typeface="Menlo"/>
                <a:ea typeface="Menlo"/>
                <a:cs typeface="Menlo"/>
              </a:rPr>
              <a:t>P/R/F 0/0/0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D60B4-2F98-4DBC-89F3-5682CEFC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719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8CD68-FA37-41CD-8CFF-86DE4ADA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AEB37-C3AA-44CF-881C-D2B97FDB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61 道旨意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0A67F-F93E-4EF7-BEC7-518A1A3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244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72F31-A9F3-44DA-9868-6D0AC503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关键口径：本地开发环境单次快照；61 道旨意 · 13 条 RunSpec · 350 条 Runtime Outbox，不代表生产规模。</a:t>
            </a:r>
          </a:p>
        </p:txBody>
      </p:sp>
      <p:sp xmlns:a="http://schemas.openxmlformats.org/drawingml/2006/main">
        <p:nvSpPr>
          <p:cNvPr id="22" name="Rounded Rectangle 21"/>
          <p:cNvSpPr/>
          <p:nvPr/>
        </p:nvSpPr>
        <p:spPr>
          <a:xfrm>
            <a:off x="8092440" y="5705856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0160">
            <a:solidFill>
              <a:srgbClr val="02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l"/>
            <a:r>
              <a:rPr sz="1000" b="1">
                <a:solidFill>
                  <a:srgbClr val="0F172A"/>
                </a:solidFill>
                <a:latin typeface="PingFang SC"/>
              </a:rPr>
              <a:t>Case: JJC-20260611-003 · Trace: trc_20e8f5a46f5a4050 · Snapshot: 2026-06-11 · 本地开发环境单次快照</a:t>
            </a:r>
          </a:p>
        </p:txBody>
      </p:sp>
    </p:spTree>
    <p:extLst>
      <p:ext uri="{BB962C8B-B14F-4D97-AF65-F5344CB8AC3E}">
        <p14:creationId xmlns:p14="http://schemas.microsoft.com/office/powerpoint/2010/main" val="159962165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6C419-6883-4AA0-9555-35BB5CA2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88DAC-7A8B-414F-AE29-8B4C5CCF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4A14C-1CC5-4C82-A661-0E426F84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B46AB-2BD2-4BD3-8BB0-9D2B292E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027A48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027A48"/>
                </a:solidFill>
                <a:latin typeface="Menlo"/>
                <a:ea typeface="Menlo"/>
                <a:cs typeface="Menlo"/>
              </a:rPr>
              <a:t>REAL RUN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52A37-48FE-4303-BCF9-375993F2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92AC2-8FA5-4638-AA8A-5DE4FD22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28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D1AE3-C326-4D7A-8D22-154A77D2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真实案例：可观测性不是日志更多，而是证据可读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892E7-0523-4580-BB5D-385CFAEC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活动记录不再堆日志，而是按执行叙事、证据链和 trace 对齐。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979F6-0E21-47DB-9783-FD2AF3C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79057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7caec9e7641e0"/>
          <a:stretch xmlns:a="http://schemas.openxmlformats.org/drawingml/2006/main"/>
        </p:blipFill>
        <p:spPr>
          <a:xfrm xmlns:a="http://schemas.openxmlformats.org/drawingml/2006/main">
            <a:off x="742950" y="2281238"/>
            <a:ext cx="7715250" cy="3286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E37A3-3118-40D2-BB16-3DE00A59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763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真实运行截图：执行回顾展开态，活动记录被压缩成可读证据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7E56F-6342-4EBB-8BF1-87942D8A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495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0FC4B-3505-413E-BE61-29110A4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执行叙事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3EFA4-5260-43A5-8684-F5DDF82E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051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判断路径 + 最近动作，先告诉人当前该看哪里。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14388-AC93-4CA1-9DAB-14F17273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2495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320FE-04C3-45FC-965E-94E7FFE3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A15C0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A15C07"/>
                </a:solidFill>
                <a:latin typeface="PingFang SC"/>
                <a:ea typeface="PingFang SC"/>
                <a:cs typeface="PingFang SC"/>
              </a:rPr>
              <a:t>记录可折叠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BB34E-B6E1-4CBC-BC9D-B7024345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活动动态按信号压缩，避免把操作者淹没。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699A7-5B6A-4BA7-863E-B4096902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2495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3E465-C9B2-44C8-A213-5DE71D73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57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Trace 对齐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0226D-577D-4284-97AA-E220203A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197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任务、队列、模型状态和活动记录共用同一证据链。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E874E-DA6E-46AF-B493-AAA81CFE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0176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>
              <a:alpha val="0"/>
            </a:srgbClr>
          </a:solidFill>
          <a:ln xmlns:a="http://schemas.openxmlformats.org/drawingml/2006/main" w="10160">
            <a:solidFill>
              <a:srgbClr val="027A48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0F172A"/>
                </a:solidFill>
                <a:latin typeface="PingFang SC"/>
              </a:rPr>
              <a:t>Case: JJC-20260611-003 · Trace: trc_20e8f5a46f5a4050 · Snapshot: 2026-06-11 · 本地开发环境单次快照</a:t>
            </a:r>
            <a:br/>
            <a:r>
              <a:rPr sz="1000" b="1">
                <a:solidFill>
                  <a:srgbClr val="0F172A"/>
                </a:solidFill>
                <a:latin typeface="PingFang SC"/>
              </a:rPr>
              <a:t>Event Ledger: received → runspec → policy → dispatch → tool → artifact → review。</a:t>
            </a:r>
          </a:p>
        </p:txBody>
      </p:sp>
    </p:spTree>
    <p:extLst>
      <p:ext uri="{BB962C8B-B14F-4D97-AF65-F5344CB8AC3E}">
        <p14:creationId xmlns:p14="http://schemas.microsoft.com/office/powerpoint/2010/main" val="1151262725"/>
      </p:ext>
    </p:extLst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2743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00" b="1">
                <a:solidFill>
                  <a:srgbClr val="C81E1E"/>
                </a:solidFill>
                <a:latin typeface="PingFang SC"/>
              </a:rPr>
              <a:t>CASE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78992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ingFang SC"/>
              </a:rPr>
              <a:t>V1 vs v30：先给估算口径，再谈价值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7899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PingFang SC"/>
              </a:rPr>
              <a:t>本地开发/复盘口径，非生产 SLA；用于说明后续评估方向。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148840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PingFang SC"/>
              </a:rPr>
              <a:t>指标（试运行口径）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828800"/>
            <a:ext cx="2423160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PingFang SC"/>
              </a:rPr>
              <a:t>V1 看板期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828800"/>
            <a:ext cx="2560320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PingFang SC"/>
              </a:rPr>
              <a:t>v30 控制面原型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1828800"/>
            <a:ext cx="3063240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PingFang SC"/>
              </a:rPr>
              <a:t>下一步目标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40280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30" b="1">
                <a:solidFill>
                  <a:srgbClr val="0F172A"/>
                </a:solidFill>
                <a:latin typeface="PingFang SC"/>
              </a:rPr>
              <a:t>卡点定位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240280"/>
            <a:ext cx="2423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3-5 处人工翻日志/文件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240280"/>
            <a:ext cx="2560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1 个任务详情入口</a:t>
            </a:r>
          </a:p>
          <a:p>
            <a:r>
              <a:rPr sz="860" b="0">
                <a:solidFill>
                  <a:srgbClr val="0F172A"/>
                </a:solidFill>
                <a:latin typeface="PingFang SC"/>
              </a:rPr>
              <a:t>task / queue / trace 同屏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240280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主堵点 &lt;2min 定位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898648"/>
            <a:ext cx="2148840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30" b="1">
                <a:solidFill>
                  <a:srgbClr val="0F172A"/>
                </a:solidFill>
                <a:latin typeface="PingFang SC"/>
              </a:rPr>
              <a:t>证据完整度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898648"/>
            <a:ext cx="24231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flow / progress / tool 分散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898648"/>
            <a:ext cx="2560320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RunSpec / Policy / Trace / Artifact 同链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2898648"/>
            <a:ext cx="3063240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evidence completeness &gt;80%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57016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30" b="1">
                <a:solidFill>
                  <a:srgbClr val="0F172A"/>
                </a:solidFill>
                <a:latin typeface="PingFang SC"/>
              </a:rPr>
              <a:t>模型状态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3557016"/>
            <a:ext cx="2423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OpenCode 与平台状态不一致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3557016"/>
            <a:ext cx="2560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注册表 + latency / failure / fallback 目标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3557016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模型健康 SLO 可观测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215384"/>
            <a:ext cx="2148840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30" b="1">
                <a:solidFill>
                  <a:srgbClr val="0F172A"/>
                </a:solidFill>
                <a:latin typeface="PingFang SC"/>
              </a:rPr>
              <a:t>接管触发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4215384"/>
            <a:ext cx="24231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事后发现问题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4215384"/>
            <a:ext cx="2560320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risk / timeout / no-evidence 触发预览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4215384"/>
            <a:ext cx="3063240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0" b="0">
                <a:solidFill>
                  <a:srgbClr val="0F172A"/>
                </a:solidFill>
                <a:latin typeface="PingFang SC"/>
              </a:rPr>
              <a:t>takeover 命中率可复盘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38928"/>
            <a:ext cx="65836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F172A"/>
                </a:solidFill>
                <a:latin typeface="PingFang SC"/>
              </a:rPr>
              <a:t>本地快照样本：61 道旨意 / 13 条 RunSpec / 350 条 Runtime Outbox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084064"/>
            <a:ext cx="59436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475569"/>
                </a:solidFill>
                <a:latin typeface="PingFang SC"/>
              </a:rPr>
              <a:t>旨意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5111496"/>
            <a:ext cx="3824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5084064"/>
            <a:ext cx="54864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1">
                <a:solidFill>
                  <a:srgbClr val="0F172A"/>
                </a:solidFill>
                <a:latin typeface="PingFang SC"/>
              </a:rPr>
              <a:t>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5321807"/>
            <a:ext cx="59436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475569"/>
                </a:solidFill>
                <a:latin typeface="PingFang SC"/>
              </a:rPr>
              <a:t>RunSpec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5349240"/>
            <a:ext cx="81512" cy="82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5321807"/>
            <a:ext cx="54864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1">
                <a:solidFill>
                  <a:srgbClr val="0F172A"/>
                </a:solidFill>
                <a:latin typeface="PingFang SC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559552"/>
            <a:ext cx="59436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475569"/>
                </a:solidFill>
                <a:latin typeface="PingFang SC"/>
              </a:rPr>
              <a:t>Outbox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586984"/>
            <a:ext cx="2194560" cy="8229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5559552"/>
            <a:ext cx="548640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1">
                <a:solidFill>
                  <a:srgbClr val="0F172A"/>
                </a:solidFill>
                <a:latin typeface="PingFang SC"/>
              </a:rPr>
              <a:t>350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6016752"/>
            <a:ext cx="10881360" cy="365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F172A"/>
                </a:solidFill>
                <a:latin typeface="PingFang SC"/>
              </a:rPr>
              <a:t>转场：有了指标口径，路线图才不是口号，而是闭环收敛计划。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三省六部 · Agent Workbench 工程化复盘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73FE67-830E-490E-9D91-01615D92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13C6D-7FB1-4122-B83C-2235B0E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2C615-E99F-4B3D-89B8-3231F3B8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7BC20-7553-424C-BEFB-1258D62B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PART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CDA7F-0459-4DD2-A20B-364986CC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D643B-7D57-4B25-8CF7-11C2AF35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回到未来：个人 PC 会变成 Agent 工作场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580FF-DF1C-4B18-BD91-DAF8D593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PC 不只是打开应用的设备，而是 Agent 可以受控使用的本地资源节点。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1E108-F98D-4BD0-B7FC-E510F9EE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F766E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0F766E">
                    <a:alpha val="9412"/>
                  </a:srgbClr>
                </a:solidFill>
                <a:latin typeface="Menlo"/>
                <a:ea typeface="Menlo"/>
                <a:cs typeface="Menlo"/>
              </a:rPr>
              <a:t>PART</a:t>
            </a:r>
          </a:p>
          <a:p xmlns:a="http://schemas.openxmlformats.org/drawingml/2006/main">
            <a:pPr algn="ctr">
              <a:defRPr sz="4350" b="1">
                <a:solidFill>
                  <a:srgbClr val="0F766E">
                    <a:alpha val="9412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4350" b="1">
                <a:solidFill>
                  <a:srgbClr val="0F766E">
                    <a:alpha val="9412"/>
                  </a:srgbClr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A6AAC-5547-4F92-97CF-0A47A4A1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C174B-E787-4AD0-BB75-120EB1BB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C1044-61E9-47E7-9DB2-397C3B86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30 / 35</a:t>
            </a:r>
          </a:p>
        </p:txBody>
      </p:sp>
    </p:spTree>
    <p:extLst>
      <p:ext uri="{BB962C8B-B14F-4D97-AF65-F5344CB8AC3E}">
        <p14:creationId xmlns:p14="http://schemas.microsoft.com/office/powerpoint/2010/main" val="207406885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A48A43-7EAF-4EBD-8043-D966196B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53B9F-C511-4C5D-8416-4E7E4F17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564FE-8324-4078-B92C-4505A78A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7F293-93A6-4FAF-AECE-1B9738A8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AI PC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93F59-283A-4637-80DB-E8CA0FAE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96A52-D82C-43AD-B5BF-CE345108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31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D3944-64FE-4544-A4C9-71B691F1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如果 PC 成为 Agent Runtime，控制面会更重要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46658-ED83-460C-B509-EDC8E660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网页、PPT、文件、命令、代码仓库都可能成为工具；AI PC 是受控资源节点，不是默认全权限代理桌面。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9C9D4-48AB-4034-AAAF-2A1E1117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8FD99-5426-4838-A4DD-03E37B4C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03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本地文件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3E3C0-039A-42D4-A12E-1E2E581F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读写文档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4BC68-A098-4D3B-B884-5EE11F88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051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5BFDF-111E-4202-8F5A-5ED53C09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00AFD-7F76-4417-964E-3B609A7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574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03A61-55EE-4414-94F8-FFA94C1D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03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浏览器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F318F-15C1-4E2B-BD5A-AB8516EF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网页操作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663EB-611E-4712-B80A-A994074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051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BD72F-61CF-4B62-9435-5A6467ED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19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8A863-8416-404B-9A4F-83697B3A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574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87AF9-3C14-43B5-AB29-E770BFA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003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15C0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15C07"/>
                </a:solidFill>
                <a:latin typeface="PingFang SC"/>
                <a:ea typeface="PingFang SC"/>
                <a:cs typeface="PingFang SC"/>
              </a:rPr>
              <a:t>终端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BD8E7-7CD1-49BD-9341-291B0313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命令执行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2CA8E-223D-41F3-8AB5-B2C94F02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051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F5F31-1927-412F-8AC3-4B0D1A5B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417A3-B60D-49A0-A5CB-CC01FE9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C001A-B92C-4297-8F6B-008775D5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03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941C6"/>
                </a:solidFill>
                <a:latin typeface="PingFang SC"/>
                <a:ea typeface="PingFang SC"/>
                <a:cs typeface="PingFang SC"/>
              </a:rPr>
              <a:t>办公套件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49AA3-98B7-4BCD-AE93-C54C2435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PPT/Word/Excel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2E019-CDD2-4991-92BA-A9705F8B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051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97D8F6-B205-4B0C-84C9-CA2818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19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0063F-E2A9-4439-AEAE-CB36388F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EA762-41B4-4637-BA82-26C25523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03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代码仓库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9B6BC-3AAF-425F-A04E-CCF59273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Patch/Test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5E5E3-8688-4697-9451-C1F9AC14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8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8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三省六部要做的不是替用户按按钮，而是让 Agent 操作这些资源时经过 Permission Broker、Policy Gate 和 Human-in-the-loop。</a:t>
            </a:r>
          </a:p>
        </p:txBody>
      </p:sp>
    </p:spTree>
    <p:extLst>
      <p:ext uri="{BB962C8B-B14F-4D97-AF65-F5344CB8AC3E}">
        <p14:creationId xmlns:p14="http://schemas.microsoft.com/office/powerpoint/2010/main" val="174242769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ED29C-AB82-458F-94E5-9E33BAD7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FBD60-8477-469E-9DCA-F8CA1D0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9FE4E-9BA1-4934-B4A6-30DBA6CE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897C3-B224-4EE6-BB1E-B7AD93FD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A9734-B760-4C7F-87F3-C709560C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265D1-9CDD-4CA1-BAD9-A1B1F83E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32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092F2-1C00-4F55-952E-5A971B77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路线图：按指标收敛六个闭环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AC417-3471-4EB9-8E5A-5513DD4E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P0 打通模型路由与 Trace；P1 同步收敛 Policy、Isolation、Evals；P2 做规模化 SLO 和回归集。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C98CA-35B4-4711-AB7C-D6409630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13D05-9FAA-4756-AB1E-3A17DDE8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模型路由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EEE7A-CD6F-49DB-BEDA-C0F41E4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延迟、超时、failover、等级降级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0283B-685F-4634-9E92-EA3DCBCF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1E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4ADF3-21BC-4AEA-98B6-33AFCB4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C81E1E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C81E1E"/>
                </a:solidFill>
                <a:latin typeface="PingFang SC"/>
                <a:ea typeface="PingFang SC"/>
                <a:cs typeface="PingFang SC"/>
              </a:rPr>
              <a:t>事件与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586D6-0F5F-4803-9228-C08A925D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run / agent / handoff / tool / artifact span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F80E3-566E-41EB-A57A-2674A14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15C0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BFD97-F7A0-4746-8AB9-11B7E401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A15C0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A15C07"/>
                </a:solidFill>
                <a:latin typeface="PingFang SC"/>
                <a:ea typeface="PingFang SC"/>
                <a:cs typeface="PingFang SC"/>
              </a:rPr>
              <a:t>Policy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6AF37-F5E5-46B4-A9EF-F16A7C4B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工具 allowlist、审批人、scope、expiry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111E0-1B03-4D1C-8361-A162B6F9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7A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ABC11-18B3-4A0F-BB02-C66B3FA3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027A48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027A48"/>
                </a:solidFill>
                <a:latin typeface="PingFang SC"/>
                <a:ea typeface="PingFang SC"/>
                <a:cs typeface="PingFang SC"/>
              </a:rPr>
              <a:t>任务隔离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16DD2-76E7-4A0D-B234-A2860906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一任务一上下文，Patch-first，可审可回滚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FFDE0-75AB-4DF9-80C5-B8B5A5F2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EB76B-5254-4338-B054-7544C81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终止与接管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44482-7AE0-458C-B4EC-5DF793F9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max_turns、timeout、重复失败、handoff_to_user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4EEB2-C3D5-4542-B227-7E8579B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957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FAB963-0677-4AFE-945F-F9BA3055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5" b="1">
                <a:solidFill>
                  <a:srgbClr val="6941C6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6941C6"/>
                </a:solidFill>
                <a:latin typeface="PingFang SC"/>
                <a:ea typeface="PingFang SC"/>
                <a:cs typeface="PingFang SC"/>
              </a:rPr>
              <a:t>Evals 与 SLO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E1D38-5707-4927-B0D2-1899EC5D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481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877"/>
                </a:solidFill>
                <a:latin typeface="PingFang SC"/>
                <a:ea typeface="PingFang SC"/>
                <a:cs typeface="PingFang SC"/>
              </a:rPr>
              <a:t>失败样本回流、policy FN/FP、evidence completeness、在线回归指标</a:t>
            </a:r>
          </a:p>
        </p:txBody>
      </p:sp>
    </p:spTree>
    <p:extLst>
      <p:ext uri="{BB962C8B-B14F-4D97-AF65-F5344CB8AC3E}">
        <p14:creationId xmlns:p14="http://schemas.microsoft.com/office/powerpoint/2010/main" val="867443551"/>
      </p:ext>
    </p:extLst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2743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00" b="1">
                <a:solidFill>
                  <a:srgbClr val="C81E1E"/>
                </a:solidFill>
                <a:latin typeface="PingFang SC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78992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ingFang SC"/>
              </a:rPr>
              <a:t>抛砖引玉：三个问题留给现场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7899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PingFang SC"/>
              </a:rPr>
              <a:t>我更希望这场不是单向发布，而是把三省六部当成一个可讨论的样本。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969264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PingFang SC"/>
              </a:rPr>
              <a:t>你们的 Agent 目前在“信任”上卡在哪里？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971800"/>
            <a:ext cx="475488" cy="47548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17520"/>
            <a:ext cx="969264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PingFang SC"/>
              </a:rPr>
              <a:t>什么场景下你会选择“直接执行”而不是“人工审批”？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475488" cy="475488"/>
          </a:xfrm>
          <a:prstGeom prst="ellipse">
            <a:avLst/>
          </a:prstGeom>
          <a:solidFill>
            <a:srgbClr val="694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160520"/>
            <a:ext cx="969264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PingFang SC"/>
              </a:rPr>
              <a:t>如果要在公司里上 Agent 控制面，第一步应该做什么？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10469880" cy="502920"/>
          </a:xfrm>
          <a:prstGeom prst="roundRect">
            <a:avLst/>
          </a:prstGeom>
          <a:solidFill>
            <a:srgbClr val="FFF7ED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F172A"/>
                </a:solidFill>
                <a:latin typeface="PingFang SC"/>
              </a:rPr>
              <a:t>最后先把今天的核心判断收束成一句话。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三省六部 · Agent Workbench 工程化复盘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34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27432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00" b="1">
                <a:solidFill>
                  <a:srgbClr val="C81E1E"/>
                </a:solidFill>
                <a:latin typeface="PingFang SC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78992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300" b="1">
                <a:solidFill>
                  <a:srgbClr val="0F172A"/>
                </a:solidFill>
                <a:latin typeface="PingFang SC"/>
              </a:rPr>
              <a:t>延伸阅读：把三省六部放回主流工程脉络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07899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PingFang SC"/>
              </a:rPr>
              <a:t>只列和本次分享直接相关的公开资料，方便继续追。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54864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74519"/>
            <a:ext cx="101498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PingFang SC"/>
              </a:rPr>
              <a:t>Model Context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12848"/>
            <a:ext cx="10149840" cy="-274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modelcontextprotocol.io/docs/getting-started/intro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连接模型与工具/数据/外部系统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14600"/>
            <a:ext cx="54864" cy="5669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51760"/>
            <a:ext cx="101498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PingFang SC"/>
              </a:rPr>
              <a:t>Google Agent2Agent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990088"/>
            <a:ext cx="10149840" cy="-274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developers.googleblog.com/en/a2a-a-new-era-of-agent-interoperability/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Agent 发现、通信、协作与企业互操作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91839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91839"/>
            <a:ext cx="54864" cy="566928"/>
          </a:xfrm>
          <a:prstGeom prst="rect">
            <a:avLst/>
          </a:prstGeom>
          <a:solidFill>
            <a:srgbClr val="694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28999"/>
            <a:ext cx="101498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6941C6"/>
                </a:solidFill>
                <a:latin typeface="PingFang SC"/>
              </a:rPr>
              <a:t>OpenAI Agents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67327"/>
            <a:ext cx="10149840" cy="-274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openai.github.io/openai-agents-python/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tracing、guardrails、handoffs、sessions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69079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54864" cy="566928"/>
          </a:xfrm>
          <a:prstGeom prst="rect">
            <a:avLst/>
          </a:prstGeom>
          <a:solidFill>
            <a:srgbClr val="A15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06240"/>
            <a:ext cx="101498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A15C07"/>
                </a:solidFill>
                <a:latin typeface="PingFang SC"/>
              </a:rPr>
              <a:t>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544567"/>
            <a:ext cx="10149840" cy="-274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langchain-ai.github.io/langgraph/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persistence、HITL、fault-tolerant orchestration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4632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46320"/>
            <a:ext cx="54864" cy="566928"/>
          </a:xfrm>
          <a:prstGeom prst="rect">
            <a:avLst/>
          </a:prstGeom>
          <a:solidFill>
            <a:srgbClr val="02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983480"/>
            <a:ext cx="101498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027A48"/>
                </a:solidFill>
                <a:latin typeface="PingFang SC"/>
              </a:rPr>
              <a:t>cft0808 / 三省六部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321808"/>
            <a:ext cx="10149840" cy="-274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PingFang SC"/>
              </a:rPr>
              <a:t>公众号 cft0808 / GitHub 项目</a:t>
            </a:r>
          </a:p>
          <a:p>
            <a:r>
              <a:rPr sz="1019" b="0">
                <a:solidFill>
                  <a:srgbClr val="0F172A"/>
                </a:solidFill>
                <a:latin typeface="PingFang SC"/>
              </a:rPr>
              <a:t>项目复盘、开源进展、后续文章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三省六部 · Agent Workbench 工程化复盘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835640" y="6537960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94A3B8"/>
                </a:solidFill>
                <a:latin typeface="PingFang SC"/>
              </a:rPr>
              <a:t>33 / 35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3516CA-1556-4FB8-AF8A-4C49D1C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CC022-E346-47B1-8DD8-96630E73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56198-DF35-430F-989D-4A385DDC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BE91D-26CD-426A-8547-ECFE528B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FAA57-F265-4273-BAC9-D011BE7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三省六部 · Agent Workbench 工程化复盘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9E688-A179-4322-B712-17F1F59D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6B7280"/>
                </a:solidFill>
                <a:latin typeface="Menlo"/>
              </a:rPr>
              <a:t>35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D26D7-2BE7-49FF-8AE4-6621371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</a:rPr>
              <a:t>收束：从好玩界面回到生产控制面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9595D-E482-46C3-A11F-CE5FFF2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0" b="1">
                <a:solidFill>
                  <a:srgbClr val="5F6877"/>
                </a:solidFill>
                <a:latin typeface="PingFang SC"/>
                <a:ea typeface="PingFang SC"/>
                <a:cs typeface="PingFang SC"/>
              </a:defRPr>
            </a:pPr>
            <a:r>
              <a:rPr sz="1250">
                <a:solidFill>
                  <a:srgbClr val="4B5563"/>
                </a:solidFill>
                <a:latin typeface="PingFang SC"/>
              </a:rPr>
              <a:t>起点是“把任务看清楚”，终点是回答 Trust、Monitor、Takeover。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9AB8C-890E-4F73-A539-D7D81F6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1E1E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C81E1E"/>
                </a:solidFill>
                <a:latin typeface="Menlo"/>
                <a:ea typeface="Menlo"/>
                <a:cs typeface="Menlo"/>
              </a:rPr>
              <a:t>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946EA-EE79-4FA0-9F63-DB77CBA1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信任依据是什么？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629B8-546E-450E-BB3C-EE45980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Monitor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5A696-EE26-4445-B708-46A89DB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如何定位卡点？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53591-9522-42C1-8E4F-1DEA61D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Takeover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98561-A1CA-4A11-9C67-F6F0F514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5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何时触发接管？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78B38-0ED9-4E91-9CE8-9ADF01FA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863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如果三问无解，能力增强只会放大系统风险。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7D260-8F33-4492-B3B3-4EC17E22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6260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87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F6877"/>
                </a:solidFill>
                <a:latin typeface="Menlo"/>
                <a:ea typeface="Menlo"/>
                <a:cs typeface="Menlo"/>
              </a:rPr>
              <a:t>Agent 进入真实资源之后，能干活只是开始，敢放权才是生产化。</a:t>
            </a:r>
          </a:p>
        </p:txBody>
      </p:sp>
    </p:spTree>
    <p:extLst>
      <p:ext uri="{BB962C8B-B14F-4D97-AF65-F5344CB8AC3E}">
        <p14:creationId xmlns:p14="http://schemas.microsoft.com/office/powerpoint/2010/main" val="196317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2026-06-11T05:02:39.1380000Z</dcterms:created>
  <dcterms:modified xsi:type="dcterms:W3CDTF">2026-06-11T05:02:39.1380000Z</dcterms:modified>
</coreProperties>
</file>